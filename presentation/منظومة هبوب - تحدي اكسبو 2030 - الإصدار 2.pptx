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70" r:id="rId22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23"/>
    <p:sldId id="26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526"/>
    <p:restoredTop sz="94691"/>
  </p:normalViewPr>
  <p:slideViewPr>
    <p:cSldViewPr snapToGrid="0">
      <p:cViewPr>
        <p:scale>
          <a:sx n="135" d="100"/>
          <a:sy n="135" d="100"/>
        </p:scale>
        <p:origin x="1976" y="6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  <Relationship Id="rId22" Type="http://schemas.openxmlformats.org/officeDocument/2006/relationships/slide" Target="slides/slide15.xml"/>
  <Relationship Id="rId23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3c1c94764568f31_3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h3c1c94764568f31_3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3c1c94764568f31_3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h3c1c94764568f31_3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3c1c94764568f31_3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h3c1c94764568f31_3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3c1c94764568f31_3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h3c1c94764568f31_3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3c1c94764568f31_3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h3c1c94764568f31_3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3c1c94764568f31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h3c1c94764568f31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3c1c94764568f31_3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h3c1c94764568f31_3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3c1c94764568f31_3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h3c1c94764568f31_3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3c1c94764568f31_3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h3c1c94764568f31_3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3c1c94764568f31_3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h3c1c94764568f31_3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3c1c94764568f31_3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h3c1c94764568f31_3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3c1c94764568f31_3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h3c1c94764568f31_3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3c1c94764568f31_3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h3c1c94764568f31_3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3c1c94764568f31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h3c1c94764568f31_3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4" name="Google Shape;54;p14" title="hglsn.png"/>
          <p:cNvPicPr preferRelativeResize="0"/>
          <p:nvPr/>
        </p:nvPicPr>
        <p:blipFill rotWithShape="1">
          <a:blip r:embed="rId2">
            <a:alphaModFix/>
          </a:blip>
          <a:srcRect l="35846" t="2629" r="25951"/>
          <a:stretch/>
        </p:blipFill>
        <p:spPr>
          <a:xfrm>
            <a:off x="-144000" y="-122975"/>
            <a:ext cx="9445627" cy="52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-1838425" y="-13022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3035200" y="17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6E7DC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HB122" Type="http://schemas.openxmlformats.org/officeDocument/2006/relationships/image" Target="../media/hb_img122.png"/><Relationship Id="rIdHB123" Type="http://schemas.openxmlformats.org/officeDocument/2006/relationships/image" Target="../media/hb_img123.png"/><Relationship Id="rIdHB124" Type="http://schemas.openxmlformats.org/officeDocument/2006/relationships/image" Target="../media/hb_img124.png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HB125" Type="http://schemas.openxmlformats.org/officeDocument/2006/relationships/image" Target="../media/hb_img125.png"/><Relationship Id="rIdHB126" Type="http://schemas.openxmlformats.org/officeDocument/2006/relationships/image" Target="../media/hb_img126.png"/><Relationship Id="rIdHB127" Type="http://schemas.openxmlformats.org/officeDocument/2006/relationships/image" Target="../media/hb_img127.jpg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/>
        </p:nvSpPr>
        <p:spPr>
          <a:xfrm>
            <a:off x="863550" y="2547075"/>
            <a:ext cx="74169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2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منظومة هبوب للراحة الحرارية</a:t>
            </a:r>
          </a:p>
        </p:txBody>
      </p:sp>
      <p:sp>
        <p:nvSpPr>
          <p:cNvPr id="97" name="Google Shape;97;p25"/>
          <p:cNvSpPr txBox="1"/>
          <p:nvPr/>
        </p:nvSpPr>
        <p:spPr>
          <a:xfrm>
            <a:off x="863550" y="3150000"/>
            <a:ext cx="74169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تقيس ما يشعر به الضيف، وتحوّله إلى قرار تشغيلي</a:t>
            </a:r>
          </a:p>
        </p:txBody>
      </p:sp>
      <p:pic>
        <p:nvPicPr>
          <p:cNvPr id="98" name="Google Shape;9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5886" y="985996"/>
            <a:ext cx="977418" cy="64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5" title="logo mis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8834" y="792925"/>
            <a:ext cx="1944378" cy="107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5" title="Riyadh Expo 2030(1).png"/>
          <p:cNvPicPr preferRelativeResize="0"/>
          <p:nvPr/>
        </p:nvPicPr>
        <p:blipFill rotWithShape="1">
          <a:blip r:embed="rId6">
            <a:alphaModFix/>
          </a:blip>
          <a:srcRect l="14448" t="33687" r="14448" b="33690"/>
          <a:stretch/>
        </p:blipFill>
        <p:spPr>
          <a:xfrm>
            <a:off x="2137332" y="1061327"/>
            <a:ext cx="1628005" cy="746978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HB Text 3001"/>
          <p:cNvSpPr txBox="1"/>
          <p:nvPr/>
        </p:nvSpPr>
        <p:spPr>
          <a:xfrm>
            <a:off x="863550" y="3680000"/>
            <a:ext cx="74169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فريق هبوب  ·  مسار الاستدامة والأثر البيئي  ·  التحدي 2.3: الراحة الحرارية في المناطق الخارجية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/>
        </p:nvSpPr>
        <p:spPr>
          <a:xfrm>
            <a:off x="720000" y="11308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أعضاء الفريق</a:t>
            </a:r>
            <a:endParaRPr sz="2800" b="0" i="0" u="none" strike="noStrike" cap="none">
              <a:solidFill>
                <a:srgbClr val="D30D3A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5590211" y="2049302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7159143" y="2049302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6862285" y="3237048"/>
            <a:ext cx="1638600" cy="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سارة العنزي</a:t>
            </a:r>
          </a:p>
          <a:p>
            <a:pPr marL="0" indent="0" algn="ctr" rtl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قائدة الفريق · </a:t>
            </a:r>
            <a:r>
              <a:rPr lang="ar-SA" sz="90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هندسة </a:t>
            </a:r>
            <a:r>
              <a:rPr lang="ar-SA" sz="900" b="0" dirty="0" err="1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ميكاترونكس</a:t>
            </a:r>
            <a:endParaRPr lang="ar-SA" sz="900" b="0" dirty="0">
              <a:solidFill>
                <a:srgbClr val="8980B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09" name="Google Shape;109;p26"/>
          <p:cNvSpPr txBox="1"/>
          <p:nvPr/>
        </p:nvSpPr>
        <p:spPr>
          <a:xfrm>
            <a:off x="5293348" y="3237048"/>
            <a:ext cx="1638600" cy="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لينا مدهش</a:t>
            </a:r>
          </a:p>
          <a:p>
            <a:pPr marL="0" indent="0" algn="ctr" rtl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تصميم وتصنيع الدوائر الإلكترونية</a:t>
            </a:r>
          </a:p>
        </p:txBody>
      </p:sp>
      <p:sp>
        <p:nvSpPr>
          <p:cNvPr id="110" name="Google Shape;110;p26"/>
          <p:cNvSpPr txBox="1"/>
          <p:nvPr/>
        </p:nvSpPr>
        <p:spPr>
          <a:xfrm>
            <a:off x="3675753" y="3237048"/>
            <a:ext cx="1638600" cy="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ريناد العوفي</a:t>
            </a:r>
          </a:p>
          <a:p>
            <a:pPr marL="0" indent="0" algn="ctr" rtl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علم البيانات والذكاء الاصطناعي</a:t>
            </a:r>
          </a:p>
        </p:txBody>
      </p:sp>
      <p:sp>
        <p:nvSpPr>
          <p:cNvPr id="111" name="Google Shape;111;p26"/>
          <p:cNvSpPr txBox="1"/>
          <p:nvPr/>
        </p:nvSpPr>
        <p:spPr>
          <a:xfrm>
            <a:off x="2046467" y="3237048"/>
            <a:ext cx="1638600" cy="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ريم آل هيزع</a:t>
            </a:r>
          </a:p>
          <a:p>
            <a:pPr marL="0" indent="0" algn="ctr" rtl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تجربة وواجهات المستخدم UX/UI</a:t>
            </a:r>
          </a:p>
        </p:txBody>
      </p:sp>
      <p:sp>
        <p:nvSpPr>
          <p:cNvPr id="112" name="Google Shape;112;p26"/>
          <p:cNvSpPr/>
          <p:nvPr/>
        </p:nvSpPr>
        <p:spPr>
          <a:xfrm>
            <a:off x="2343311" y="2049302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3966768" y="2049302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6" title="us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8962" y="2314948"/>
            <a:ext cx="513597" cy="51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6" title="us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32412" y="2314948"/>
            <a:ext cx="513597" cy="51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6" title="us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5850" y="2314948"/>
            <a:ext cx="513597" cy="51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6" title="us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4787" y="2314948"/>
            <a:ext cx="513597" cy="51360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2;p26">
            <a:extLst>
              <a:ext uri="{FF2B5EF4-FFF2-40B4-BE49-F238E27FC236}">
                <a16:creationId xmlns:a16="http://schemas.microsoft.com/office/drawing/2014/main" id="{83D632FA-195F-3EAF-BE07-E0DFE0F27898}"/>
              </a:ext>
            </a:extLst>
          </p:cNvPr>
          <p:cNvSpPr/>
          <p:nvPr/>
        </p:nvSpPr>
        <p:spPr>
          <a:xfrm>
            <a:off x="725145" y="2049302"/>
            <a:ext cx="1044900" cy="1044900"/>
          </a:xfrm>
          <a:prstGeom prst="ellipse">
            <a:avLst/>
          </a:prstGeom>
          <a:solidFill>
            <a:srgbClr val="0323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4;p26" title="user.png">
            <a:extLst>
              <a:ext uri="{FF2B5EF4-FFF2-40B4-BE49-F238E27FC236}">
                <a16:creationId xmlns:a16="http://schemas.microsoft.com/office/drawing/2014/main" id="{0045C83A-C61F-2819-7D72-827FDC7EE10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796" y="2314948"/>
            <a:ext cx="513597" cy="51360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1;p26">
            <a:extLst>
              <a:ext uri="{FF2B5EF4-FFF2-40B4-BE49-F238E27FC236}">
                <a16:creationId xmlns:a16="http://schemas.microsoft.com/office/drawing/2014/main" id="{7A61E2F9-D751-886E-E79D-2AEF7C41B7A8}"/>
              </a:ext>
            </a:extLst>
          </p:cNvPr>
          <p:cNvSpPr txBox="1"/>
          <p:nvPr/>
        </p:nvSpPr>
        <p:spPr>
          <a:xfrm>
            <a:off x="407867" y="3237048"/>
            <a:ext cx="1638600" cy="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ريفان العنزي</a:t>
            </a:r>
          </a:p>
          <a:p>
            <a:pPr marL="0" indent="0" algn="ctr" rtl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تجربة وواجهات المستخدم UX/UI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/>
        </p:nvSpPr>
        <p:spPr>
          <a:xfrm>
            <a:off x="677425" y="1054150"/>
            <a:ext cx="74169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المحتويات:</a:t>
            </a:r>
            <a:endParaRPr sz="28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02" name="HB Badge 1"/>
          <p:cNvSpPr/>
          <p:nvPr/>
        </p:nvSpPr>
        <p:spPr>
          <a:xfrm>
            <a:off x="7697600" y="17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01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03" name="HB Item 1"/>
          <p:cNvSpPr txBox="1"/>
          <p:nvPr/>
        </p:nvSpPr>
        <p:spPr>
          <a:xfrm>
            <a:off x="4637600" y="17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أعضاء الفريق</a:t>
            </a:r>
          </a:p>
        </p:txBody>
      </p:sp>
      <p:sp>
        <p:nvSpPr>
          <p:cNvPr id="3004" name="HB Badge 2"/>
          <p:cNvSpPr/>
          <p:nvPr/>
        </p:nvSpPr>
        <p:spPr>
          <a:xfrm>
            <a:off x="7697600" y="22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02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05" name="HB Item 2"/>
          <p:cNvSpPr txBox="1"/>
          <p:nvPr/>
        </p:nvSpPr>
        <p:spPr>
          <a:xfrm>
            <a:off x="4637600" y="22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وحلها</a:t>
            </a:r>
          </a:p>
        </p:txBody>
      </p:sp>
      <p:sp>
        <p:nvSpPr>
          <p:cNvPr id="3006" name="HB Badge 3"/>
          <p:cNvSpPr/>
          <p:nvPr/>
        </p:nvSpPr>
        <p:spPr>
          <a:xfrm>
            <a:off x="7697600" y="27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03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07" name="HB Item 3"/>
          <p:cNvSpPr txBox="1"/>
          <p:nvPr/>
        </p:nvSpPr>
        <p:spPr>
          <a:xfrm>
            <a:off x="4637600" y="27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البيانات المستخدمة</a:t>
            </a:r>
          </a:p>
        </p:txBody>
      </p:sp>
      <p:sp>
        <p:nvSpPr>
          <p:cNvPr id="3008" name="HB Badge 4"/>
          <p:cNvSpPr/>
          <p:nvPr/>
        </p:nvSpPr>
        <p:spPr>
          <a:xfrm>
            <a:off x="7697600" y="32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04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09" name="HB Item 4"/>
          <p:cNvSpPr txBox="1"/>
          <p:nvPr/>
        </p:nvSpPr>
        <p:spPr>
          <a:xfrm>
            <a:off x="4637600" y="32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</a:p>
        </p:txBody>
      </p:sp>
      <p:sp>
        <p:nvSpPr>
          <p:cNvPr id="3010" name="HB Badge 5"/>
          <p:cNvSpPr/>
          <p:nvPr/>
        </p:nvSpPr>
        <p:spPr>
          <a:xfrm>
            <a:off x="7697600" y="37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05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11" name="HB Item 5"/>
          <p:cNvSpPr txBox="1"/>
          <p:nvPr/>
        </p:nvSpPr>
        <p:spPr>
          <a:xfrm>
            <a:off x="4637600" y="37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وصف الفكرة</a:t>
            </a:r>
          </a:p>
        </p:txBody>
      </p:sp>
      <p:sp>
        <p:nvSpPr>
          <p:cNvPr id="3012" name="HB Badge 6"/>
          <p:cNvSpPr/>
          <p:nvPr/>
        </p:nvSpPr>
        <p:spPr>
          <a:xfrm>
            <a:off x="7697600" y="42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06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13" name="HB Item 6"/>
          <p:cNvSpPr txBox="1"/>
          <p:nvPr/>
        </p:nvSpPr>
        <p:spPr>
          <a:xfrm>
            <a:off x="4637600" y="42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كيفية توفير البيانات واستخدامها</a:t>
            </a:r>
          </a:p>
        </p:txBody>
      </p:sp>
      <p:sp>
        <p:nvSpPr>
          <p:cNvPr id="3014" name="HB Badge 7"/>
          <p:cNvSpPr/>
          <p:nvPr/>
        </p:nvSpPr>
        <p:spPr>
          <a:xfrm>
            <a:off x="4150000" y="17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07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15" name="HB Item 7"/>
          <p:cNvSpPr txBox="1"/>
          <p:nvPr/>
        </p:nvSpPr>
        <p:spPr>
          <a:xfrm>
            <a:off x="1090000" y="17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مواءمة الفكرة مع إكسبو 2030</a:t>
            </a:r>
          </a:p>
        </p:txBody>
      </p:sp>
      <p:sp>
        <p:nvSpPr>
          <p:cNvPr id="3016" name="HB Badge 8"/>
          <p:cNvSpPr/>
          <p:nvPr/>
        </p:nvSpPr>
        <p:spPr>
          <a:xfrm>
            <a:off x="4150000" y="22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08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17" name="HB Item 8"/>
          <p:cNvSpPr txBox="1"/>
          <p:nvPr/>
        </p:nvSpPr>
        <p:spPr>
          <a:xfrm>
            <a:off x="1090000" y="22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ملخص</a:t>
            </a:r>
          </a:p>
        </p:txBody>
      </p:sp>
      <p:sp>
        <p:nvSpPr>
          <p:cNvPr id="3018" name="HB Badge 9"/>
          <p:cNvSpPr/>
          <p:nvPr/>
        </p:nvSpPr>
        <p:spPr>
          <a:xfrm>
            <a:off x="4150000" y="27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09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19" name="HB Item 9"/>
          <p:cNvSpPr txBox="1"/>
          <p:nvPr/>
        </p:nvSpPr>
        <p:spPr>
          <a:xfrm>
            <a:off x="1090000" y="27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الاختبار والتحقق</a:t>
            </a:r>
          </a:p>
        </p:txBody>
      </p:sp>
      <p:sp>
        <p:nvSpPr>
          <p:cNvPr id="3020" name="HB Badge 10"/>
          <p:cNvSpPr/>
          <p:nvPr/>
        </p:nvSpPr>
        <p:spPr>
          <a:xfrm>
            <a:off x="4150000" y="32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10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21" name="HB Item 10"/>
          <p:cNvSpPr txBox="1"/>
          <p:nvPr/>
        </p:nvSpPr>
        <p:spPr>
          <a:xfrm>
            <a:off x="1090000" y="32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العرض التوضيحي واللقطات</a:t>
            </a:r>
          </a:p>
        </p:txBody>
      </p:sp>
      <p:sp>
        <p:nvSpPr>
          <p:cNvPr id="3022" name="HB Badge 11"/>
          <p:cNvSpPr/>
          <p:nvPr/>
        </p:nvSpPr>
        <p:spPr>
          <a:xfrm>
            <a:off x="4150000" y="3700000"/>
            <a:ext cx="384000" cy="384000"/>
          </a:xfrm>
          <a:prstGeom prst="roundRect">
            <a:avLst>
              <a:gd name="adj" fmla="val 18808"/>
            </a:avLst>
          </a:prstGeom>
          <a:solidFill>
            <a:srgbClr val="46307B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11</a:t>
            </a:r>
            <a:endParaRPr sz="13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23" name="HB Item 11"/>
          <p:cNvSpPr txBox="1"/>
          <p:nvPr/>
        </p:nvSpPr>
        <p:spPr>
          <a:xfrm>
            <a:off x="1090000" y="3700000"/>
            <a:ext cx="300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التحديات والخطط المستقبلية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/>
        </p:nvSpPr>
        <p:spPr>
          <a:xfrm>
            <a:off x="6057900" y="833150"/>
            <a:ext cx="2399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 وحلّها</a:t>
            </a:r>
            <a:endParaRPr sz="28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700000" y="1390000"/>
            <a:ext cx="7760000" cy="6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يحتاج مشغلو المساحات الخارجية في إكسبو إلى أكثر من صورة لحظية لكل منطقة: يحتاجون معرفة القرار المناسب لها، وتنفيذه تلقائيًا متى أمكن. أما اليوم فتعمل أجهزة التلطيف بجداول ثابتة، ويأتي التدخل بعد أن يشعر الضيف بالحر.</a:t>
            </a:r>
          </a:p>
        </p:txBody>
      </p:sp>
      <p:sp>
        <p:nvSpPr>
          <p:cNvPr id="5002" name="HB Row 5002"/>
          <p:cNvSpPr/>
          <p:nvPr/>
        </p:nvSpPr>
        <p:spPr>
          <a:xfrm>
            <a:off x="700000" y="2110000"/>
            <a:ext cx="7760000" cy="86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3" name="HB Text 5003"/>
          <p:cNvSpPr txBox="1"/>
          <p:nvPr/>
        </p:nvSpPr>
        <p:spPr>
          <a:xfrm>
            <a:off x="5700000" y="2110000"/>
            <a:ext cx="205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قراءة الحرارة لا تعكس إحساس الضيف</a:t>
            </a:r>
          </a:p>
        </p:txBody>
      </p:sp>
      <p:sp>
        <p:nvSpPr>
          <p:cNvPr id="5004" name="HB Text 5004"/>
          <p:cNvSpPr txBox="1"/>
          <p:nvPr/>
        </p:nvSpPr>
        <p:spPr>
          <a:xfrm>
            <a:off x="790000" y="2130000"/>
            <a:ext cx="48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حرارة الهواء وحدها لا تكفي؛ الشمس والرطوبة والرياح والظل تغيّر كيف يحس الضيف بالحر.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الحل: </a:t>
            </a: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تقيس هبوب العوامل الأربعة معًا وتحسب مؤشر الإجهاد الحراري (WBGT)، فتعرف كيف يحس الإنسان بالحرارة، لا كم تبلغ حرارة الهواء فقط.</a:t>
            </a:r>
          </a:p>
        </p:txBody>
      </p:sp>
      <p:sp>
        <p:nvSpPr>
          <p:cNvPr id="5005" name="HB Row 5005"/>
          <p:cNvSpPr/>
          <p:nvPr/>
        </p:nvSpPr>
        <p:spPr>
          <a:xfrm>
            <a:off x="700000" y="3040000"/>
            <a:ext cx="7760000" cy="86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6" name="HB Text 5006"/>
          <p:cNvSpPr txBox="1"/>
          <p:nvPr/>
        </p:nvSpPr>
        <p:spPr>
          <a:xfrm>
            <a:off x="5700000" y="3040000"/>
            <a:ext cx="205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نقاط قياس قليلة لا تمثل الموقع</a:t>
            </a:r>
          </a:p>
        </p:txBody>
      </p:sp>
      <p:sp>
        <p:nvSpPr>
          <p:cNvPr id="5007" name="HB Text 5007"/>
          <p:cNvSpPr txBox="1"/>
          <p:nvPr/>
        </p:nvSpPr>
        <p:spPr>
          <a:xfrm>
            <a:off x="790000" y="3060000"/>
            <a:ext cx="48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الساحة المكشوفة والمظللة المجاورة لها قد يختلف إحساس الضيف فيهما بعدة درجات، فالقراءة الواحدة لا تمثل الموقع كله.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الحل: </a:t>
            </a: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أعمدة استشعار بارتفاع الإنسان في كل منطقة، بتصميم ينسجم مع هوية المكان، مع تقدير حالة المناطق بين الأعمدة.</a:t>
            </a:r>
          </a:p>
        </p:txBody>
      </p:sp>
      <p:sp>
        <p:nvSpPr>
          <p:cNvPr id="5008" name="HB Row 5008"/>
          <p:cNvSpPr/>
          <p:nvPr/>
        </p:nvSpPr>
        <p:spPr>
          <a:xfrm>
            <a:off x="700000" y="3970000"/>
            <a:ext cx="7760000" cy="86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9" name="HB Text 5009"/>
          <p:cNvSpPr txBox="1"/>
          <p:nvPr/>
        </p:nvSpPr>
        <p:spPr>
          <a:xfrm>
            <a:off x="5700000" y="3970000"/>
            <a:ext cx="2050000" cy="8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تدخّل متأخر وأجهزة تعمل بلا قياس</a:t>
            </a:r>
          </a:p>
        </p:txBody>
      </p:sp>
      <p:sp>
        <p:nvSpPr>
          <p:cNvPr id="5010" name="HB Text 5010"/>
          <p:cNvSpPr txBox="1"/>
          <p:nvPr/>
        </p:nvSpPr>
        <p:spPr>
          <a:xfrm>
            <a:off x="790000" y="3990000"/>
            <a:ext cx="48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يُكتشف الحر بعد أن يشعر به الضيف، وأجهزة تلطيف الأجواء، كالرذاذ والتبريد والمراوح، تعمل بجداول ثابتة دون معرفة أثرها.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الحل: </a:t>
            </a: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حالة لحظية لكل منطقة، وتوصية بالإجراء المناسب مع سببه وأثره المتوقع، وأتمتة ما يمكن أتمتته فقط.</a:t>
            </a:r>
          </a:p>
        </p:txBody>
      </p:sp>
      <p:pic>
        <p:nvPicPr>
          <p:cNvPr id="3024" name="HB Icon 30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000" y="2280000"/>
            <a:ext cx="520000" cy="520000"/>
          </a:xfrm>
          <a:prstGeom prst="rect">
            <a:avLst/>
          </a:prstGeom>
        </p:spPr>
      </p:pic>
      <p:pic>
        <p:nvPicPr>
          <p:cNvPr id="3025" name="HB Icon 30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000" y="3210000"/>
            <a:ext cx="520000" cy="520000"/>
          </a:xfrm>
          <a:prstGeom prst="rect">
            <a:avLst/>
          </a:prstGeom>
        </p:spPr>
      </p:pic>
      <p:pic>
        <p:nvPicPr>
          <p:cNvPr id="3026" name="HB Icon 30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0000" y="4140000"/>
            <a:ext cx="520000" cy="5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/>
        </p:nvSpPr>
        <p:spPr>
          <a:xfrm>
            <a:off x="4916400" y="833150"/>
            <a:ext cx="354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البيانات المستخدمة</a:t>
            </a:r>
            <a:endParaRPr sz="28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002" name="HB Text 5002"/>
          <p:cNvSpPr txBox="1"/>
          <p:nvPr/>
        </p:nvSpPr>
        <p:spPr>
          <a:xfrm>
            <a:off x="700000" y="1360000"/>
            <a:ext cx="776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5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تجمع أعمدة هبوب قراءات الطقس بارتفاع الإنسان، لأن مؤشر الإجهاد الحراري (WBGT) يحتاجها ليحسب كيف يحس الإنسان بالحرارة، لا حرارة الهواء وحدها.</a:t>
            </a:r>
          </a:p>
        </p:txBody>
      </p:sp>
      <p:sp>
        <p:nvSpPr>
          <p:cNvPr id="5003" name="HB Card 5003"/>
          <p:cNvSpPr/>
          <p:nvPr/>
        </p:nvSpPr>
        <p:spPr>
          <a:xfrm>
            <a:off x="4620000" y="1860000"/>
            <a:ext cx="3840000" cy="210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ar-SA" sz="115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المصادر: ماذا نقيس ولماذا</a:t>
            </a:r>
          </a:p>
          <a:p>
            <a:pPr marL="150000" indent="-150000" algn="r" rtl="1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Clr>
                <a:srgbClr val="D30D3A"/>
              </a:buClr>
              <a:buSzPct val="100000"/>
              <a:buFont typeface="Arial"/>
              <a:buChar char="•"/>
            </a:pPr>
            <a:r>
              <a:rPr lang="ar-SA" sz="9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حرارة الهواء والرطوبة (DHT22): </a:t>
            </a: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أساس إحساس الجسم بالحر، وقدرته على التبرد بالتعرق.</a:t>
            </a:r>
          </a:p>
          <a:p>
            <a:pPr marL="150000" indent="-150000" algn="r" rtl="1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Clr>
                <a:srgbClr val="D30D3A"/>
              </a:buClr>
              <a:buSzPct val="100000"/>
              <a:buFont typeface="Arial"/>
              <a:buChar char="•"/>
            </a:pPr>
            <a:r>
              <a:rPr lang="ar-SA" sz="9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سرعة الرياح (مقياس كأسي عبر ADS1115): </a:t>
            </a: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الرياح تساعد الجسم على فقد الحرارة.</a:t>
            </a:r>
          </a:p>
          <a:p>
            <a:pPr marL="150000" indent="-150000" algn="r" rtl="1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Clr>
                <a:srgbClr val="D30D3A"/>
              </a:buClr>
              <a:buSzPct val="100000"/>
              <a:buFont typeface="Arial"/>
              <a:buChar char="•"/>
            </a:pPr>
            <a:r>
              <a:rPr lang="ar-SA" sz="9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شدة الإضاءة (VEML7700): </a:t>
            </a: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يُقدَّر منها الإشعاع الشمسي، فيظهر الفرق بين الشمس والظل.</a:t>
            </a:r>
          </a:p>
          <a:p>
            <a:pPr marL="150000" indent="-150000" algn="r" rtl="1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Clr>
                <a:srgbClr val="D30D3A"/>
              </a:buClr>
              <a:buSzPct val="100000"/>
              <a:buFont typeface="Arial"/>
              <a:buChar char="•"/>
            </a:pPr>
            <a:r>
              <a:rPr lang="ar-SA" sz="9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الموقع والوقت: </a:t>
            </a: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لحساب زاوية الشمس، مع حدود ISO 7243 وجدول أعلام الإجهاد.</a:t>
            </a:r>
          </a:p>
        </p:txBody>
      </p:sp>
      <p:sp>
        <p:nvSpPr>
          <p:cNvPr id="5004" name="HB Card 5004"/>
          <p:cNvSpPr/>
          <p:nvPr/>
        </p:nvSpPr>
        <p:spPr>
          <a:xfrm>
            <a:off x="700000" y="1860000"/>
            <a:ext cx="3840000" cy="210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ar-SA" sz="115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المعالجة: من القراءة إلى القرار</a:t>
            </a:r>
          </a:p>
          <a:p>
            <a:pPr marL="0" indent="0" algn="r" rtl="1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ar-SA" sz="9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1. التنقية: </a:t>
            </a: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استبعاد القيم الفارغة والخارجة عن الحدود، وتطبيق معايرة الرياح.</a:t>
            </a:r>
          </a:p>
          <a:p>
            <a:pPr marL="0" indent="0" algn="r" rtl="1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ar-SA" sz="9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2. الحساب: </a:t>
            </a: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حساب WBGT بطريقة Liljegren، وتصنيف المنطقة بعلم إجهاد.</a:t>
            </a:r>
          </a:p>
          <a:p>
            <a:pPr marL="0" indent="0" algn="r" rtl="1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ar-SA" sz="9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3. التوصية: </a:t>
            </a: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تحديد سبب الإجهاد والإجراء المناسب، وحساب أثره المتوقع.</a:t>
            </a:r>
          </a:p>
          <a:p>
            <a:pPr marL="0" indent="0" algn="r" rtl="1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ar-SA" sz="9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4. التحليل: </a:t>
            </a: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حفظ القراءات والقرارات في سجل زمني، لتحليل ساعات الإجهاد في كل منطقة وأثر التدخلات السابقة.</a:t>
            </a:r>
          </a:p>
          <a:p>
            <a:pPr marL="0" indent="0" algn="r" rtl="1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ar-SA" sz="85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تحدي الجمع: </a:t>
            </a:r>
            <a:r>
              <a:rPr lang="ar-SA" sz="8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النموذج بلا كرة سوداء، فيُقدَّر الإشعاع من حساس الإضاءة.</a:t>
            </a:r>
          </a:p>
        </p:txBody>
      </p:sp>
      <p:sp>
        <p:nvSpPr>
          <p:cNvPr id="5005" name="HB Card 5005"/>
          <p:cNvSpPr/>
          <p:nvPr/>
        </p:nvSpPr>
        <p:spPr>
          <a:xfrm>
            <a:off x="5940000" y="4050000"/>
            <a:ext cx="2520000" cy="76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D30D3A"/>
            </a:solidFill>
          </a:ln>
        </p:spPr>
        <p:txBody>
          <a:bodyPr wrap="square" lIns="110000" tIns="60000" rIns="110000" bIns="6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4 عوامل  </a:t>
            </a: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تحدد إحساس الإنسان بالحر</a:t>
            </a:r>
          </a:p>
          <a:p>
            <a:pPr marL="0" indent="0" algn="r" rtl="1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ar-SA" sz="8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الحرارة والرطوبة والرياح والإشعاع الشمسي، وكلها تدخل في معادلة WBGT.</a:t>
            </a:r>
          </a:p>
        </p:txBody>
      </p:sp>
      <p:sp>
        <p:nvSpPr>
          <p:cNvPr id="5006" name="HB Card 5006"/>
          <p:cNvSpPr/>
          <p:nvPr/>
        </p:nvSpPr>
        <p:spPr>
          <a:xfrm>
            <a:off x="3320000" y="4050000"/>
            <a:ext cx="2520000" cy="76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D30D3A"/>
            </a:solidFill>
          </a:ln>
        </p:spPr>
        <p:txBody>
          <a:bodyPr wrap="square" lIns="110000" tIns="60000" rIns="110000" bIns="6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29°C  </a:t>
            </a: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الحد المرجعي للضيوف</a:t>
            </a:r>
          </a:p>
          <a:p>
            <a:pPr marL="0" indent="0" algn="r" rtl="1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ar-SA" sz="8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حد WBGT لشخص غير متأقلم بنشاط خفيف، حسب ISO 7243.</a:t>
            </a:r>
          </a:p>
        </p:txBody>
      </p:sp>
      <p:sp>
        <p:nvSpPr>
          <p:cNvPr id="5007" name="HB Card 5007"/>
          <p:cNvSpPr/>
          <p:nvPr/>
        </p:nvSpPr>
        <p:spPr>
          <a:xfrm>
            <a:off x="700000" y="4050000"/>
            <a:ext cx="2520000" cy="76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D30D3A"/>
            </a:solidFill>
          </a:ln>
        </p:spPr>
        <p:txBody>
          <a:bodyPr wrap="square" lIns="110000" tIns="60000" rIns="110000" bIns="6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7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5 ثوانٍ  </a:t>
            </a: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تحديث كل عمود</a:t>
            </a:r>
          </a:p>
          <a:p>
            <a:pPr marL="0" indent="0" algn="r" rtl="1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ar-SA" sz="8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يرسل العمود قراءة جديدة كل 5 ثوانٍ، فتبقى حالة المنطقة لحظية.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/>
        </p:nvSpPr>
        <p:spPr>
          <a:xfrm>
            <a:off x="5006100" y="833150"/>
            <a:ext cx="345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  <a:endParaRPr sz="25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002" name="HB Text 5002"/>
          <p:cNvSpPr txBox="1"/>
          <p:nvPr/>
        </p:nvSpPr>
        <p:spPr>
          <a:xfrm>
            <a:off x="4400000" y="1330000"/>
            <a:ext cx="40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من الحساس إلى البيانات  ·  1 / 2</a:t>
            </a:r>
          </a:p>
        </p:txBody>
      </p:sp>
      <p:sp>
        <p:nvSpPr>
          <p:cNvPr id="5003" name="HB Card 5003"/>
          <p:cNvSpPr/>
          <p:nvPr/>
        </p:nvSpPr>
        <p:spPr>
          <a:xfrm>
            <a:off x="5980000" y="1700000"/>
            <a:ext cx="2480000" cy="311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4" name="HB Text 5004"/>
          <p:cNvSpPr txBox="1"/>
          <p:nvPr/>
        </p:nvSpPr>
        <p:spPr>
          <a:xfrm>
            <a:off x="6010000" y="1750000"/>
            <a:ext cx="242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المعدات والاستشعار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متحكم ESP32 تتصل به حساسات تقيس الطقس بارتفاع الإنسان: الحرارة والرطوبة (DHT22)، والرياح (مقياس كأسي عبر ADS1115)، والإضاءة (VEML7700)، وشاشة TFT على العمود.</a:t>
            </a:r>
          </a:p>
        </p:txBody>
      </p:sp>
      <p:pic>
        <p:nvPicPr>
          <p:cNvPr id="5005" name="HB Image 5005" descr="مخطط توصيل عقدة هبوب"/>
          <p:cNvPicPr>
            <a:picLocks noChangeAspect="1"/>
          </p:cNvPicPr>
          <p:nvPr/>
        </p:nvPicPr>
        <p:blipFill>
          <a:blip r:embed="rIdHB122"/>
          <a:stretch>
            <a:fillRect/>
          </a:stretch>
        </p:blipFill>
        <p:spPr>
          <a:xfrm>
            <a:off x="6090000" y="3107272"/>
            <a:ext cx="2260000" cy="1515455"/>
          </a:xfrm>
          <a:prstGeom prst="roundRect">
            <a:avLst>
              <a:gd name="adj" fmla="val 4000"/>
            </a:avLst>
          </a:prstGeom>
        </p:spPr>
      </p:pic>
      <p:sp>
        <p:nvSpPr>
          <p:cNvPr id="5006" name="HB Card 5006"/>
          <p:cNvSpPr/>
          <p:nvPr/>
        </p:nvSpPr>
        <p:spPr>
          <a:xfrm>
            <a:off x="3340000" y="1700000"/>
            <a:ext cx="2480000" cy="311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7" name="HB Text 5007"/>
          <p:cNvSpPr txBox="1"/>
          <p:nvPr/>
        </p:nvSpPr>
        <p:spPr>
          <a:xfrm>
            <a:off x="3370000" y="1750000"/>
            <a:ext cx="242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البرمجة المدمجة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برنامج بلغة Arduino على ESP32 يقرأ الحساسات، ويرسل القراءات وحالة كل حساس برسالة JSON عبر Wi-Fi كل 5 ثوانٍ، مع جسر USB احتياطي.</a:t>
            </a:r>
          </a:p>
        </p:txBody>
      </p:sp>
      <p:pic>
        <p:nvPicPr>
          <p:cNvPr id="5008" name="HB Image 5008" descr="دالة الإرسال من برنامج ESP32"/>
          <p:cNvPicPr>
            <a:picLocks noChangeAspect="1"/>
          </p:cNvPicPr>
          <p:nvPr/>
        </p:nvPicPr>
        <p:blipFill>
          <a:blip r:embed="rIdHB123"/>
          <a:stretch>
            <a:fillRect/>
          </a:stretch>
        </p:blipFill>
        <p:spPr>
          <a:xfrm>
            <a:off x="3450000" y="3098565"/>
            <a:ext cx="2260000" cy="1532869"/>
          </a:xfrm>
          <a:prstGeom prst="roundRect">
            <a:avLst>
              <a:gd name="adj" fmla="val 4000"/>
            </a:avLst>
          </a:prstGeom>
        </p:spPr>
      </p:pic>
      <p:sp>
        <p:nvSpPr>
          <p:cNvPr id="5009" name="HB Card 5009"/>
          <p:cNvSpPr/>
          <p:nvPr/>
        </p:nvSpPr>
        <p:spPr>
          <a:xfrm>
            <a:off x="700000" y="1700000"/>
            <a:ext cx="2480000" cy="311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10" name="HB Text 5010"/>
          <p:cNvSpPr txBox="1"/>
          <p:nvPr/>
        </p:nvSpPr>
        <p:spPr>
          <a:xfrm>
            <a:off x="730000" y="1750000"/>
            <a:ext cx="242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الخادم والتخزين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خادم Python يستقبل الرسائل ويتحقق منها، وقاعدة بيانات SQL (SQLite) تحفظ القراءات والمؤشر المحسوب والتنبيهات وقرارات المشغل، ليُبنى عليها التحليل والتقارير.</a:t>
            </a:r>
          </a:p>
        </p:txBody>
      </p:sp>
      <p:pic>
        <p:nvPicPr>
          <p:cNvPr id="5011" name="HB Image 5011" descr="قراءات حقيقية من قاعدة البيانات"/>
          <p:cNvPicPr>
            <a:picLocks noChangeAspect="1"/>
          </p:cNvPicPr>
          <p:nvPr/>
        </p:nvPicPr>
        <p:blipFill>
          <a:blip r:embed="rIdHB124"/>
          <a:stretch>
            <a:fillRect/>
          </a:stretch>
        </p:blipFill>
        <p:spPr>
          <a:xfrm>
            <a:off x="823430" y="3030000"/>
            <a:ext cx="2233139" cy="167000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/>
        </p:nvSpPr>
        <p:spPr>
          <a:xfrm>
            <a:off x="700000" y="1640000"/>
            <a:ext cx="77600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r" rtl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هبوب منظومة لمشغلي ومشرفي المساحات الخارجية في إكسبو 2030. تقيس الأجواء في كل منطقة كما يحسها الضيف، لا حرارة الهواء وحدها، وتحوّلها إلى قرارات واضحة: أي أجهزة التلطيف تعمل، وأين، ومتى، وأي مهام تشغيل وصيانة تُسند لفريق الموقع.</a:t>
            </a:r>
          </a:p>
          <a:p>
            <a:pPr marL="0" indent="0" algn="r" rtl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الفئة المستهدفة: </a:t>
            </a: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مشغلو ومشرفو المساحات الخارجية</a:t>
            </a: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    </a:t>
            </a:r>
            <a:r>
              <a:rPr lang="ar-SA" sz="10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المستفيد النهائي: </a:t>
            </a: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ضيوف إكسبو</a:t>
            </a:r>
          </a:p>
        </p:txBody>
      </p:sp>
      <p:sp>
        <p:nvSpPr>
          <p:cNvPr id="210" name="Google Shape;210;p31"/>
          <p:cNvSpPr txBox="1"/>
          <p:nvPr/>
        </p:nvSpPr>
        <p:spPr>
          <a:xfrm>
            <a:off x="3400000" y="1230000"/>
            <a:ext cx="50576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من قياس الطقس إلى قرار تشغيلي</a:t>
            </a:r>
          </a:p>
        </p:txBody>
      </p:sp>
      <p:sp>
        <p:nvSpPr>
          <p:cNvPr id="211" name="Google Shape;211;p31"/>
          <p:cNvSpPr txBox="1"/>
          <p:nvPr/>
        </p:nvSpPr>
        <p:spPr>
          <a:xfrm>
            <a:off x="3400000" y="700000"/>
            <a:ext cx="50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8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وصف الفكرة</a:t>
            </a:r>
          </a:p>
        </p:txBody>
      </p:sp>
      <p:sp>
        <p:nvSpPr>
          <p:cNvPr id="5002" name="HB Card 5002"/>
          <p:cNvSpPr/>
          <p:nvPr/>
        </p:nvSpPr>
        <p:spPr>
          <a:xfrm>
            <a:off x="5980000" y="3000000"/>
            <a:ext cx="2480000" cy="14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3" name="HB Badge 5003"/>
          <p:cNvSpPr/>
          <p:nvPr/>
        </p:nvSpPr>
        <p:spPr>
          <a:xfrm>
            <a:off x="7970000" y="3120000"/>
            <a:ext cx="380000" cy="380000"/>
          </a:xfrm>
          <a:prstGeom prst="ellipse">
            <a:avLst/>
          </a:prstGeom>
          <a:solidFill>
            <a:srgbClr val="D30D3A">
              <a:alpha val="100000"/>
            </a:srgb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1</a:t>
            </a:r>
          </a:p>
        </p:txBody>
      </p:sp>
      <p:sp>
        <p:nvSpPr>
          <p:cNvPr id="5004" name="HB Text 5004"/>
          <p:cNvSpPr txBox="1"/>
          <p:nvPr/>
        </p:nvSpPr>
        <p:spPr>
          <a:xfrm>
            <a:off x="6040000" y="3120000"/>
            <a:ext cx="18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عمود الاستشعار</a:t>
            </a:r>
          </a:p>
        </p:txBody>
      </p:sp>
      <p:sp>
        <p:nvSpPr>
          <p:cNvPr id="5005" name="HB Text 5005"/>
          <p:cNvSpPr txBox="1"/>
          <p:nvPr/>
        </p:nvSpPr>
        <p:spPr>
          <a:xfrm>
            <a:off x="6040000" y="3580000"/>
            <a:ext cx="2360000" cy="8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يقيس الحرارة والرطوبة والرياح والإشعاع بارتفاع الإنسان، بغلاف يحمل نقش السدو ويمكن تخصيصه لهوية كل منطقة.</a:t>
            </a:r>
          </a:p>
        </p:txBody>
      </p:sp>
      <p:sp>
        <p:nvSpPr>
          <p:cNvPr id="5006" name="HB Card 5006"/>
          <p:cNvSpPr/>
          <p:nvPr/>
        </p:nvSpPr>
        <p:spPr>
          <a:xfrm>
            <a:off x="3340000" y="3000000"/>
            <a:ext cx="2480000" cy="14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7" name="HB Badge 5007"/>
          <p:cNvSpPr/>
          <p:nvPr/>
        </p:nvSpPr>
        <p:spPr>
          <a:xfrm>
            <a:off x="5330000" y="3120000"/>
            <a:ext cx="380000" cy="380000"/>
          </a:xfrm>
          <a:prstGeom prst="ellipse">
            <a:avLst/>
          </a:prstGeom>
          <a:solidFill>
            <a:srgbClr val="D30D3A">
              <a:alpha val="100000"/>
            </a:srgb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</a:t>
            </a:r>
          </a:p>
        </p:txBody>
      </p:sp>
      <p:sp>
        <p:nvSpPr>
          <p:cNvPr id="5008" name="HB Text 5008"/>
          <p:cNvSpPr txBox="1"/>
          <p:nvPr/>
        </p:nvSpPr>
        <p:spPr>
          <a:xfrm>
            <a:off x="3400000" y="3120000"/>
            <a:ext cx="18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منصة التحليل</a:t>
            </a:r>
          </a:p>
        </p:txBody>
      </p:sp>
      <p:sp>
        <p:nvSpPr>
          <p:cNvPr id="5009" name="HB Text 5009"/>
          <p:cNvSpPr txBox="1"/>
          <p:nvPr/>
        </p:nvSpPr>
        <p:spPr>
          <a:xfrm>
            <a:off x="3400000" y="3580000"/>
            <a:ext cx="2360000" cy="8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تحسب مؤشر الإجهاد الحراري لكل منطقة، وتحدد علمها، وتفسر سببه، وتقترح الإجراء وأثره المتوقع.</a:t>
            </a:r>
          </a:p>
        </p:txBody>
      </p:sp>
      <p:sp>
        <p:nvSpPr>
          <p:cNvPr id="5010" name="HB Card 5010"/>
          <p:cNvSpPr/>
          <p:nvPr/>
        </p:nvSpPr>
        <p:spPr>
          <a:xfrm>
            <a:off x="700000" y="3000000"/>
            <a:ext cx="2480000" cy="14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11" name="HB Badge 5011"/>
          <p:cNvSpPr/>
          <p:nvPr/>
        </p:nvSpPr>
        <p:spPr>
          <a:xfrm>
            <a:off x="2690000" y="3120000"/>
            <a:ext cx="380000" cy="380000"/>
          </a:xfrm>
          <a:prstGeom prst="ellipse">
            <a:avLst/>
          </a:prstGeom>
          <a:solidFill>
            <a:srgbClr val="D30D3A">
              <a:alpha val="100000"/>
            </a:srgb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3</a:t>
            </a:r>
          </a:p>
        </p:txBody>
      </p:sp>
      <p:sp>
        <p:nvSpPr>
          <p:cNvPr id="5012" name="HB Text 5012"/>
          <p:cNvSpPr txBox="1"/>
          <p:nvPr/>
        </p:nvSpPr>
        <p:spPr>
          <a:xfrm>
            <a:off x="760000" y="3120000"/>
            <a:ext cx="188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واجهة المشغل</a:t>
            </a:r>
          </a:p>
        </p:txBody>
      </p:sp>
      <p:sp>
        <p:nvSpPr>
          <p:cNvPr id="5013" name="HB Text 5013"/>
          <p:cNvSpPr txBox="1"/>
          <p:nvPr/>
        </p:nvSpPr>
        <p:spPr>
          <a:xfrm>
            <a:off x="760000" y="3580000"/>
            <a:ext cx="2360000" cy="8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خريطة حية بحالة المناطق، وتوصيات تُنفذ بضغطة، وأتمتة ما يمكن أتمتته، وإسناد مهام التشغيل والصيانة.</a:t>
            </a:r>
          </a:p>
        </p:txBody>
      </p:sp>
      <p:sp>
        <p:nvSpPr>
          <p:cNvPr id="5014" name="HB Arrow 5014"/>
          <p:cNvSpPr/>
          <p:nvPr/>
        </p:nvSpPr>
        <p:spPr>
          <a:xfrm>
            <a:off x="5845000" y="3655000"/>
            <a:ext cx="110000" cy="140000"/>
          </a:xfrm>
          <a:prstGeom prst="leftArrow">
            <a:avLst/>
          </a:prstGeom>
          <a:solidFill>
            <a:srgbClr val="D30D3A">
              <a:alpha val="100000"/>
            </a:srgbClr>
          </a:solidFill>
          <a:ln>
            <a:noFill/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15" name="HB Arrow 5015"/>
          <p:cNvSpPr/>
          <p:nvPr/>
        </p:nvSpPr>
        <p:spPr>
          <a:xfrm>
            <a:off x="3205000" y="3655000"/>
            <a:ext cx="110000" cy="140000"/>
          </a:xfrm>
          <a:prstGeom prst="leftArrow">
            <a:avLst/>
          </a:prstGeom>
          <a:solidFill>
            <a:srgbClr val="D30D3A">
              <a:alpha val="100000"/>
            </a:srgbClr>
          </a:solidFill>
          <a:ln>
            <a:noFill/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4" name="HB Diagram 3034" descr="p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200" y="0"/>
            <a:ext cx="2930800" cy="5143500"/>
          </a:xfrm>
          <a:prstGeom prst="rect">
            <a:avLst/>
          </a:prstGeom>
        </p:spPr>
      </p:pic>
      <p:sp>
        <p:nvSpPr>
          <p:cNvPr id="216" name="Google Shape;216;p32"/>
          <p:cNvSpPr txBox="1"/>
          <p:nvPr/>
        </p:nvSpPr>
        <p:spPr>
          <a:xfrm>
            <a:off x="629669" y="1400000"/>
            <a:ext cx="5380000" cy="3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1. </a:t>
            </a:r>
            <a:r>
              <a:rPr lang="ar-SA" sz="11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التوفير: </a:t>
            </a:r>
            <a:r>
              <a:rPr lang="ar-SA" sz="11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كل عمود يرسل رسالة JSON كل 5 ثوانٍ فيها القراءات وحالة كل حساس، عبر Wi-Fi، أو عبر كابل USB إذا انقطعت الشبكة.</a:t>
            </a:r>
          </a:p>
          <a:p>
            <a:pPr marL="0" indent="0" algn="r" rtl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2. </a:t>
            </a:r>
            <a:r>
              <a:rPr lang="ar-SA" sz="11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المعالجة: </a:t>
            </a:r>
            <a:r>
              <a:rPr lang="ar-SA" sz="11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يستبعد الخادم القيم الفارغة أو الخارجة عن الحدود، ويطبق معاملات المعايرة، ويحفظ كل قراءة في سجل زمني.</a:t>
            </a:r>
          </a:p>
          <a:p>
            <a:pPr marL="0" indent="0" algn="r" rtl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3. </a:t>
            </a:r>
            <a:r>
              <a:rPr lang="ar-SA" sz="11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الحساب: </a:t>
            </a:r>
            <a:r>
              <a:rPr lang="ar-SA" sz="11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من الحرارة والرطوبة والرياح والإشعاع وموقع الشمس يُحسب WBGT، ثم يُقارن بجدول الأعلام وبالحد المرجعي للضيوف (29 درجة مئوية).</a:t>
            </a:r>
          </a:p>
          <a:p>
            <a:pPr marL="0" indent="0" algn="r" rtl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4. </a:t>
            </a:r>
            <a:r>
              <a:rPr lang="ar-SA" sz="11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الاستخدام: </a:t>
            </a:r>
            <a:r>
              <a:rPr lang="ar-SA" sz="11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علم لكل منطقة على لوحة المشغل وشاشة العمود، وسجل يُبنى عليه تحليل ساعات الإجهاد وأثر كل تدخل.</a:t>
            </a:r>
          </a:p>
        </p:txBody>
      </p:sp>
      <p:sp>
        <p:nvSpPr>
          <p:cNvPr id="217" name="Google Shape;217;p32"/>
          <p:cNvSpPr txBox="1"/>
          <p:nvPr/>
        </p:nvSpPr>
        <p:spPr>
          <a:xfrm>
            <a:off x="560000" y="560000"/>
            <a:ext cx="538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2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كيفية توفير البيانات وكيفية استخدامها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/>
        </p:nvSpPr>
        <p:spPr>
          <a:xfrm>
            <a:off x="3400000" y="700000"/>
            <a:ext cx="50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6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مواءمة الفكرة مع إكسبو 2030</a:t>
            </a:r>
          </a:p>
        </p:txBody>
      </p:sp>
      <p:sp>
        <p:nvSpPr>
          <p:cNvPr id="5002" name="HB Pill 5002"/>
          <p:cNvSpPr/>
          <p:nvPr/>
        </p:nvSpPr>
        <p:spPr>
          <a:xfrm>
            <a:off x="5660000" y="1340000"/>
            <a:ext cx="2800000" cy="290000"/>
          </a:xfrm>
          <a:prstGeom prst="roundRect">
            <a:avLst>
              <a:gd name="adj" fmla="val 50000"/>
            </a:avLst>
          </a:prstGeom>
          <a:solidFill>
            <a:srgbClr val="46307B">
              <a:alpha val="100000"/>
            </a:srgbClr>
          </a:solidFill>
          <a:ln>
            <a:noFill/>
          </a:ln>
        </p:spPr>
        <p:txBody>
          <a:bodyPr wrap="square" lIns="60000" tIns="0" rIns="6000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المسار: </a:t>
            </a: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الاستدامة والأثر البيئي</a:t>
            </a:r>
          </a:p>
        </p:txBody>
      </p:sp>
      <p:sp>
        <p:nvSpPr>
          <p:cNvPr id="5003" name="HB Pill 5003"/>
          <p:cNvSpPr/>
          <p:nvPr/>
        </p:nvSpPr>
        <p:spPr>
          <a:xfrm>
            <a:off x="2240000" y="1340000"/>
            <a:ext cx="3320000" cy="290000"/>
          </a:xfrm>
          <a:prstGeom prst="roundRect">
            <a:avLst>
              <a:gd name="adj" fmla="val 50000"/>
            </a:avLst>
          </a:prstGeom>
          <a:solidFill>
            <a:srgbClr val="46307B">
              <a:alpha val="100000"/>
            </a:srgbClr>
          </a:solidFill>
          <a:ln>
            <a:noFill/>
          </a:ln>
        </p:spPr>
        <p:txBody>
          <a:bodyPr wrap="square" lIns="60000" tIns="0" rIns="6000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التحدي 2.3: </a:t>
            </a: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الراحة الحرارية في المناطق الخارجية</a:t>
            </a:r>
          </a:p>
        </p:txBody>
      </p:sp>
      <p:sp>
        <p:nvSpPr>
          <p:cNvPr id="5004" name="HB Text 5004"/>
          <p:cNvSpPr txBox="1"/>
          <p:nvPr/>
        </p:nvSpPr>
        <p:spPr>
          <a:xfrm>
            <a:off x="700000" y="1700000"/>
            <a:ext cx="776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«يجد فريق التشغيل صعوبة في إبقاء المناطق الخارجية صالحة للاستخدام عندما تتغيّر الحرارة والرطوبة والرياح خلال اليوم وتُقاس في نقاط ثابتة قليلة فقط».</a:t>
            </a:r>
          </a:p>
          <a:p>
            <a:pPr marL="0" indent="0" algn="r" rtl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10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تعالجه هبوب بقياس العوامل الأربعة بارتفاع الإنسان في كل منطقة، وتحويلها إلى قرار يعتمده المشغل. وراعينا في تصميمها أربع نقاط:</a:t>
            </a:r>
          </a:p>
        </p:txBody>
      </p:sp>
      <p:sp>
        <p:nvSpPr>
          <p:cNvPr id="5005" name="HB Card 5005"/>
          <p:cNvSpPr/>
          <p:nvPr/>
        </p:nvSpPr>
        <p:spPr>
          <a:xfrm>
            <a:off x="6600000" y="2480000"/>
            <a:ext cx="1860000" cy="133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الحد من الهدر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تعمل أجهزة التلطيف حيث يلزم ووقت ما يلزم فقط، فيقل استهلاك الماء والكهرباء.</a:t>
            </a:r>
          </a:p>
        </p:txBody>
      </p:sp>
      <p:sp>
        <p:nvSpPr>
          <p:cNvPr id="5006" name="HB Card 5006"/>
          <p:cNvSpPr/>
          <p:nvPr/>
        </p:nvSpPr>
        <p:spPr>
          <a:xfrm>
            <a:off x="4633333" y="2480000"/>
            <a:ext cx="1860000" cy="133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تجربة الضيف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مساحات مفتوحة مريحة وآمنة، وهي جوهر مفهوم الواحة والحديقة في مخطط المعرض.</a:t>
            </a:r>
          </a:p>
        </p:txBody>
      </p:sp>
      <p:sp>
        <p:nvSpPr>
          <p:cNvPr id="5007" name="HB Card 5007"/>
          <p:cNvSpPr/>
          <p:nvPr/>
        </p:nvSpPr>
        <p:spPr>
          <a:xfrm>
            <a:off x="2666666" y="2480000"/>
            <a:ext cx="1860000" cy="133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قياس يغطي الموقع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أعمدة في كل منطقة بدل نقاط ثابتة قليلة، مع تقدير حالة المناطق بينها.</a:t>
            </a:r>
          </a:p>
        </p:txBody>
      </p:sp>
      <p:sp>
        <p:nvSpPr>
          <p:cNvPr id="5008" name="HB Card 5008"/>
          <p:cNvSpPr/>
          <p:nvPr/>
        </p:nvSpPr>
        <p:spPr>
          <a:xfrm>
            <a:off x="699999" y="2480000"/>
            <a:ext cx="1860000" cy="133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جزء من الديكور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عمود بنقش السدو يمكن تخصيصه لهوية كل منطقة، فلا يكون جهازًا دخيلًا على المشهد.</a:t>
            </a:r>
          </a:p>
        </p:txBody>
      </p:sp>
      <p:sp>
        <p:nvSpPr>
          <p:cNvPr id="5009" name="HB Card 5009"/>
          <p:cNvSpPr/>
          <p:nvPr/>
        </p:nvSpPr>
        <p:spPr>
          <a:xfrm>
            <a:off x="5940000" y="3960000"/>
            <a:ext cx="2520000" cy="640000"/>
          </a:xfrm>
          <a:prstGeom prst="roundRect">
            <a:avLst>
              <a:gd name="adj" fmla="val 9000"/>
            </a:avLst>
          </a:prstGeom>
          <a:solidFill>
            <a:srgbClr val="46307B">
              <a:alpha val="55000"/>
            </a:srgbClr>
          </a:solidFill>
          <a:ln>
            <a:noFill/>
          </a:ln>
        </p:spPr>
        <p:txBody>
          <a:bodyPr wrap="square" lIns="110000" tIns="40000" rIns="110000" bIns="4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6 أشهر</a:t>
            </a:r>
          </a:p>
          <a:p>
            <a:pPr marL="0" indent="0" algn="r" rtl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من 1 أكتوبر 2030 إلى 31 مارس 2031</a:t>
            </a:r>
          </a:p>
        </p:txBody>
      </p:sp>
      <p:sp>
        <p:nvSpPr>
          <p:cNvPr id="5010" name="HB Card 5010"/>
          <p:cNvSpPr/>
          <p:nvPr/>
        </p:nvSpPr>
        <p:spPr>
          <a:xfrm>
            <a:off x="3320000" y="3960000"/>
            <a:ext cx="2520000" cy="640000"/>
          </a:xfrm>
          <a:prstGeom prst="roundRect">
            <a:avLst>
              <a:gd name="adj" fmla="val 9000"/>
            </a:avLst>
          </a:prstGeom>
          <a:solidFill>
            <a:srgbClr val="46307B">
              <a:alpha val="55000"/>
            </a:srgbClr>
          </a:solidFill>
          <a:ln>
            <a:noFill/>
          </a:ln>
        </p:spPr>
        <p:txBody>
          <a:bodyPr wrap="square" lIns="110000" tIns="40000" rIns="110000" bIns="4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42 مليون</a:t>
            </a:r>
          </a:p>
          <a:p>
            <a:pPr marL="0" indent="0" algn="r" rtl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زيارة متوقعة</a:t>
            </a:r>
          </a:p>
        </p:txBody>
      </p:sp>
      <p:sp>
        <p:nvSpPr>
          <p:cNvPr id="5011" name="HB Card 5011"/>
          <p:cNvSpPr/>
          <p:nvPr/>
        </p:nvSpPr>
        <p:spPr>
          <a:xfrm>
            <a:off x="700000" y="3960000"/>
            <a:ext cx="2520000" cy="640000"/>
          </a:xfrm>
          <a:prstGeom prst="roundRect">
            <a:avLst>
              <a:gd name="adj" fmla="val 9000"/>
            </a:avLst>
          </a:prstGeom>
          <a:solidFill>
            <a:srgbClr val="46307B">
              <a:alpha val="55000"/>
            </a:srgbClr>
          </a:solidFill>
          <a:ln>
            <a:noFill/>
          </a:ln>
        </p:spPr>
        <p:txBody>
          <a:bodyPr wrap="square" lIns="110000" tIns="40000" rIns="110000" bIns="4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إرث دائم</a:t>
            </a:r>
          </a:p>
          <a:p>
            <a:pPr marL="0" indent="0" algn="r" rtl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يبقى الموقع بعد المعرض، وتستمر المنظومة في خدمته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/>
        </p:nvSpPr>
        <p:spPr>
          <a:xfrm>
            <a:off x="3400000" y="700000"/>
            <a:ext cx="50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8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ملخص</a:t>
            </a:r>
          </a:p>
        </p:txBody>
      </p:sp>
      <p:sp>
        <p:nvSpPr>
          <p:cNvPr id="5002" name="HB Card 5002"/>
          <p:cNvSpPr/>
          <p:nvPr/>
        </p:nvSpPr>
        <p:spPr>
          <a:xfrm>
            <a:off x="4620000" y="1380000"/>
            <a:ext cx="3840000" cy="92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الفكرة</a:t>
            </a:r>
          </a:p>
          <a:p>
            <a:pPr marL="0" indent="0" algn="r" rtl="1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عمود ذكي ومنصة يعرفان كيف يحس الضيف بالحر في كل منطقة خارجية، ويقترحان ما يجب فعله.</a:t>
            </a:r>
          </a:p>
        </p:txBody>
      </p:sp>
      <p:sp>
        <p:nvSpPr>
          <p:cNvPr id="5003" name="HB Card 5003"/>
          <p:cNvSpPr/>
          <p:nvPr/>
        </p:nvSpPr>
        <p:spPr>
          <a:xfrm>
            <a:off x="700000" y="1380000"/>
            <a:ext cx="3840000" cy="92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الفئة المستهدفة</a:t>
            </a:r>
          </a:p>
          <a:p>
            <a:pPr marL="0" indent="0" algn="r" rtl="1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مشغلو ومشرفو المساحات الخارجية في إكسبو، والمستفيد النهائي ضيوف المعرض.</a:t>
            </a:r>
          </a:p>
        </p:txBody>
      </p:sp>
      <p:sp>
        <p:nvSpPr>
          <p:cNvPr id="5004" name="HB Card 5004"/>
          <p:cNvSpPr/>
          <p:nvPr/>
        </p:nvSpPr>
        <p:spPr>
          <a:xfrm>
            <a:off x="4620000" y="2380000"/>
            <a:ext cx="3840000" cy="92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</a:t>
            </a:r>
          </a:p>
          <a:p>
            <a:pPr marL="0" indent="0" algn="r" rtl="1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حرارة الهواء وحدها لا تكشف كيف يحس الناس، والقياس في نقاط قليلة، فتتأخر القرارات وتعمل أجهزة التلطيف بلا قياس.</a:t>
            </a:r>
          </a:p>
        </p:txBody>
      </p:sp>
      <p:sp>
        <p:nvSpPr>
          <p:cNvPr id="5005" name="HB Card 5005"/>
          <p:cNvSpPr/>
          <p:nvPr/>
        </p:nvSpPr>
        <p:spPr>
          <a:xfrm>
            <a:off x="700000" y="2380000"/>
            <a:ext cx="3840000" cy="92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كيف تحلها هبوب</a:t>
            </a:r>
          </a:p>
          <a:p>
            <a:pPr marL="0" indent="0" algn="r" rtl="1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تقيس الحرارة والرطوبة والرياح والشمس، وتحسب مؤشر إجهاد واحدًا لكل منطقة، وتعطي المشغل توصية واضحة، وتؤتمت ما يمكن أتمتته.</a:t>
            </a:r>
          </a:p>
        </p:txBody>
      </p:sp>
      <p:sp>
        <p:nvSpPr>
          <p:cNvPr id="5006" name="HB Card 5006"/>
          <p:cNvSpPr/>
          <p:nvPr/>
        </p:nvSpPr>
        <p:spPr>
          <a:xfrm>
            <a:off x="4620000" y="3380000"/>
            <a:ext cx="3840000" cy="92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ما يميزها</a:t>
            </a:r>
          </a:p>
          <a:p>
            <a:pPr marL="0" indent="0" algn="r" rtl="1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تقيس إحساس الإنسان لا الطقس فقط، وتقول ماذا تفعل لا ماذا يحدث فقط، وتحسب أثر القرار، وعمودها جزء من ديكور المكان.</a:t>
            </a:r>
          </a:p>
        </p:txBody>
      </p:sp>
      <p:sp>
        <p:nvSpPr>
          <p:cNvPr id="5007" name="HB Card 5007"/>
          <p:cNvSpPr/>
          <p:nvPr/>
        </p:nvSpPr>
        <p:spPr>
          <a:xfrm>
            <a:off x="700000" y="3380000"/>
            <a:ext cx="3840000" cy="92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الأعمال المستقبلية</a:t>
            </a:r>
          </a:p>
          <a:p>
            <a:pPr marL="0" indent="0" algn="r" rtl="1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توقع الإجهاد للساعات القادمة، وأعمدة متنقلة، وربط مباشر بأجهزة التلطيف، وامتداد لإدارة الري.</a:t>
            </a:r>
          </a:p>
        </p:txBody>
      </p:sp>
      <p:sp>
        <p:nvSpPr>
          <p:cNvPr id="5008" name="HB Card 5008"/>
          <p:cNvSpPr/>
          <p:nvPr/>
        </p:nvSpPr>
        <p:spPr>
          <a:xfrm>
            <a:off x="700000" y="4400000"/>
            <a:ext cx="7760000" cy="420000"/>
          </a:xfrm>
          <a:prstGeom prst="roundRect">
            <a:avLst>
              <a:gd name="adj" fmla="val 9000"/>
            </a:avLst>
          </a:prstGeom>
          <a:solidFill>
            <a:srgbClr val="46307B">
              <a:alpha val="55000"/>
            </a:srgbClr>
          </a:solidFill>
          <a:ln>
            <a:noFill/>
          </a:ln>
        </p:spPr>
        <p:txBody>
          <a:bodyPr wrap="square" lIns="110000" tIns="90000" rIns="110000" bIns="9000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ما أنجزناه: </a:t>
            </a:r>
            <a:r>
              <a:rPr lang="ar-SA" sz="100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عمود اختبار يرسل قراءاته لحظيًا، وخادم يحسب المؤشر والتوصية ويحفظهما، وتصميم كامل لواجهات المشغل.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/>
        </p:nvSpPr>
        <p:spPr>
          <a:xfrm>
            <a:off x="4400000" y="700000"/>
            <a:ext cx="40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8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الاختبار والتحقق</a:t>
            </a:r>
          </a:p>
        </p:txBody>
      </p:sp>
      <p:sp>
        <p:nvSpPr>
          <p:cNvPr id="3037" name="HB Card 3037"/>
          <p:cNvSpPr/>
          <p:nvPr/>
        </p:nvSpPr>
        <p:spPr>
          <a:xfrm>
            <a:off x="4660000" y="1450000"/>
            <a:ext cx="3800000" cy="900000"/>
          </a:xfrm>
          <a:prstGeom prst="roundRect">
            <a:avLst>
              <a:gd name="adj" fmla="val 14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91440" tIns="73152" rIns="91440" bIns="73152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sp>
        <p:nvSpPr>
          <p:cNvPr id="3038" name="HB Status 3038"/>
          <p:cNvSpPr/>
          <p:nvPr/>
        </p:nvSpPr>
        <p:spPr>
          <a:xfrm>
            <a:off x="7710000" y="15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46307B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تم</a:t>
            </a:r>
          </a:p>
        </p:txBody>
      </p:sp>
      <p:sp>
        <p:nvSpPr>
          <p:cNvPr id="3039" name="HB Text 3039"/>
          <p:cNvSpPr txBox="1"/>
          <p:nvPr/>
        </p:nvSpPr>
        <p:spPr>
          <a:xfrm>
            <a:off x="4770000" y="1535000"/>
            <a:ext cx="28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سلسلة البيانات كاملة</a:t>
            </a:r>
          </a:p>
        </p:txBody>
      </p:sp>
      <p:sp>
        <p:nvSpPr>
          <p:cNvPr id="3040" name="HB Text 3040"/>
          <p:cNvSpPr txBox="1"/>
          <p:nvPr/>
        </p:nvSpPr>
        <p:spPr>
          <a:xfrm>
            <a:off x="4770000" y="1840000"/>
            <a:ext cx="358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من الحساسات إلى ESP32، ثم إلى الخادم عبر Wi-Fi، ثم إلى اللوحة. قرابة 700 رسالة خلال ساعة دون انقطاع أو إعادة تشغيل (11 أكتوبر).</a:t>
            </a:r>
          </a:p>
        </p:txBody>
      </p:sp>
      <p:sp>
        <p:nvSpPr>
          <p:cNvPr id="3041" name="HB Card 3041"/>
          <p:cNvSpPr/>
          <p:nvPr/>
        </p:nvSpPr>
        <p:spPr>
          <a:xfrm>
            <a:off x="700000" y="1450000"/>
            <a:ext cx="3800000" cy="900000"/>
          </a:xfrm>
          <a:prstGeom prst="roundRect">
            <a:avLst>
              <a:gd name="adj" fmla="val 14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91440" tIns="73152" rIns="91440" bIns="73152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sp>
        <p:nvSpPr>
          <p:cNvPr id="3042" name="HB Status 3042"/>
          <p:cNvSpPr/>
          <p:nvPr/>
        </p:nvSpPr>
        <p:spPr>
          <a:xfrm>
            <a:off x="3750000" y="156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46307B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تم</a:t>
            </a:r>
          </a:p>
        </p:txBody>
      </p:sp>
      <p:sp>
        <p:nvSpPr>
          <p:cNvPr id="3043" name="HB Text 3043"/>
          <p:cNvSpPr txBox="1"/>
          <p:nvPr/>
        </p:nvSpPr>
        <p:spPr>
          <a:xfrm>
            <a:off x="810000" y="1535000"/>
            <a:ext cx="28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قراءة الحساسات وحساب المؤشر</a:t>
            </a:r>
          </a:p>
        </p:txBody>
      </p:sp>
      <p:sp>
        <p:nvSpPr>
          <p:cNvPr id="3044" name="HB Text 3044"/>
          <p:cNvSpPr txBox="1"/>
          <p:nvPr/>
        </p:nvSpPr>
        <p:spPr>
          <a:xfrm>
            <a:off x="810000" y="1840000"/>
            <a:ext cx="358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الحرارة والرطوبة والرياح والإضاءة تُقرأ، وWBGT يُحسب ويظهر على اللوحة وشاشة العمود (13 أكتوبر).</a:t>
            </a:r>
          </a:p>
        </p:txBody>
      </p:sp>
      <p:sp>
        <p:nvSpPr>
          <p:cNvPr id="3045" name="HB Card 3045"/>
          <p:cNvSpPr/>
          <p:nvPr/>
        </p:nvSpPr>
        <p:spPr>
          <a:xfrm>
            <a:off x="4660000" y="2490000"/>
            <a:ext cx="3800000" cy="900000"/>
          </a:xfrm>
          <a:prstGeom prst="roundRect">
            <a:avLst>
              <a:gd name="adj" fmla="val 14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91440" tIns="73152" rIns="91440" bIns="73152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sp>
        <p:nvSpPr>
          <p:cNvPr id="3046" name="HB Status 3046"/>
          <p:cNvSpPr/>
          <p:nvPr/>
        </p:nvSpPr>
        <p:spPr>
          <a:xfrm>
            <a:off x="7710000" y="260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46307B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تم</a:t>
            </a:r>
          </a:p>
        </p:txBody>
      </p:sp>
      <p:sp>
        <p:nvSpPr>
          <p:cNvPr id="3047" name="HB Text 3047"/>
          <p:cNvSpPr txBox="1"/>
          <p:nvPr/>
        </p:nvSpPr>
        <p:spPr>
          <a:xfrm>
            <a:off x="4770000" y="2575000"/>
            <a:ext cx="28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دقة الطباعة والتجميع</a:t>
            </a:r>
          </a:p>
        </p:txBody>
      </p:sp>
      <p:sp>
        <p:nvSpPr>
          <p:cNvPr id="3048" name="HB Text 3048"/>
          <p:cNvSpPr txBox="1"/>
          <p:nvPr/>
        </p:nvSpPr>
        <p:spPr>
          <a:xfrm>
            <a:off x="4770000" y="2880000"/>
            <a:ext cx="358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حلقات اختبار حددت خلوص 0.15 مم على طابعة الفريق، وتحقق رقمي من تركيب شبك التهوية في 27 فتحة دون تداخل.</a:t>
            </a:r>
          </a:p>
        </p:txBody>
      </p:sp>
      <p:sp>
        <p:nvSpPr>
          <p:cNvPr id="3049" name="HB Card 3049"/>
          <p:cNvSpPr/>
          <p:nvPr/>
        </p:nvSpPr>
        <p:spPr>
          <a:xfrm>
            <a:off x="700000" y="2490000"/>
            <a:ext cx="3800000" cy="900000"/>
          </a:xfrm>
          <a:prstGeom prst="roundRect">
            <a:avLst>
              <a:gd name="adj" fmla="val 14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91440" tIns="73152" rIns="91440" bIns="73152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sp>
        <p:nvSpPr>
          <p:cNvPr id="3050" name="HB Status 3050"/>
          <p:cNvSpPr/>
          <p:nvPr/>
        </p:nvSpPr>
        <p:spPr>
          <a:xfrm>
            <a:off x="3750000" y="2600000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46307B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تم</a:t>
            </a:r>
          </a:p>
        </p:txBody>
      </p:sp>
      <p:sp>
        <p:nvSpPr>
          <p:cNvPr id="3051" name="HB Text 3051"/>
          <p:cNvSpPr txBox="1"/>
          <p:nvPr/>
        </p:nvSpPr>
        <p:spPr>
          <a:xfrm>
            <a:off x="810000" y="2575000"/>
            <a:ext cx="28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التعامل مع الأعطال</a:t>
            </a:r>
          </a:p>
        </p:txBody>
      </p:sp>
      <p:sp>
        <p:nvSpPr>
          <p:cNvPr id="3052" name="HB Text 3052"/>
          <p:cNvSpPr txBox="1"/>
          <p:nvPr/>
        </p:nvSpPr>
        <p:spPr>
          <a:xfrm>
            <a:off x="810000" y="2880000"/>
            <a:ext cx="358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وضع محاكاة يفصل حساسًا أو يرسل قراءة خاطئة أو يقطع العقدة، فتعرض الواجهة الحالة بدل قيمة مضللة.</a:t>
            </a:r>
          </a:p>
        </p:txBody>
      </p:sp>
      <p:sp>
        <p:nvSpPr>
          <p:cNvPr id="3053" name="HB Card 3053"/>
          <p:cNvSpPr/>
          <p:nvPr/>
        </p:nvSpPr>
        <p:spPr>
          <a:xfrm>
            <a:off x="4660000" y="3530000"/>
            <a:ext cx="3800000" cy="900000"/>
          </a:xfrm>
          <a:prstGeom prst="roundRect">
            <a:avLst>
              <a:gd name="adj" fmla="val 14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91440" tIns="73152" rIns="91440" bIns="73152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sp>
        <p:nvSpPr>
          <p:cNvPr id="3054" name="HB Status 3054"/>
          <p:cNvSpPr/>
          <p:nvPr/>
        </p:nvSpPr>
        <p:spPr>
          <a:xfrm>
            <a:off x="7710000" y="3640000"/>
            <a:ext cx="64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30D3A"/>
            </a:solidFill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جارٍ</a:t>
            </a:r>
          </a:p>
        </p:txBody>
      </p:sp>
      <p:sp>
        <p:nvSpPr>
          <p:cNvPr id="3055" name="HB Text 3055"/>
          <p:cNvSpPr txBox="1"/>
          <p:nvPr/>
        </p:nvSpPr>
        <p:spPr>
          <a:xfrm>
            <a:off x="4770000" y="3615000"/>
            <a:ext cx="28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معايرة مقياس الرياح</a:t>
            </a:r>
          </a:p>
        </p:txBody>
      </p:sp>
      <p:sp>
        <p:nvSpPr>
          <p:cNvPr id="3056" name="HB Text 3056"/>
          <p:cNvSpPr txBox="1"/>
          <p:nvPr/>
        </p:nvSpPr>
        <p:spPr>
          <a:xfrm>
            <a:off x="4770000" y="3920000"/>
            <a:ext cx="358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معاملات تحويل الجهد إلى سرعة رياح مؤقتة حاليًا، وتُعاير بمروحة ومقياس رياح مرجعي.</a:t>
            </a:r>
          </a:p>
        </p:txBody>
      </p:sp>
      <p:sp>
        <p:nvSpPr>
          <p:cNvPr id="3057" name="HB Card 3057"/>
          <p:cNvSpPr/>
          <p:nvPr/>
        </p:nvSpPr>
        <p:spPr>
          <a:xfrm>
            <a:off x="700000" y="3530000"/>
            <a:ext cx="3800000" cy="900000"/>
          </a:xfrm>
          <a:prstGeom prst="roundRect">
            <a:avLst>
              <a:gd name="adj" fmla="val 14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91440" tIns="73152" rIns="91440" bIns="73152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</p:txBody>
      </p:sp>
      <p:sp>
        <p:nvSpPr>
          <p:cNvPr id="3058" name="HB Status 3058"/>
          <p:cNvSpPr/>
          <p:nvPr/>
        </p:nvSpPr>
        <p:spPr>
          <a:xfrm>
            <a:off x="3750000" y="3640000"/>
            <a:ext cx="64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30D3A"/>
            </a:solidFill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جارٍ</a:t>
            </a:r>
          </a:p>
        </p:txBody>
      </p:sp>
      <p:sp>
        <p:nvSpPr>
          <p:cNvPr id="3059" name="HB Text 3059"/>
          <p:cNvSpPr txBox="1"/>
          <p:nvPr/>
        </p:nvSpPr>
        <p:spPr>
          <a:xfrm>
            <a:off x="810000" y="3615000"/>
            <a:ext cx="286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التحقق من دقة المؤشر</a:t>
            </a:r>
          </a:p>
        </p:txBody>
      </p:sp>
      <p:sp>
        <p:nvSpPr>
          <p:cNvPr id="3060" name="HB Text 3060"/>
          <p:cNvSpPr txBox="1"/>
          <p:nvPr/>
        </p:nvSpPr>
        <p:spPr>
          <a:xfrm>
            <a:off x="810000" y="3920000"/>
            <a:ext cx="3580000" cy="4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مقارنة WBGT المحسوب بأمثلة مرجعية وبجهاز قياس إن توفر، وقياس أثر شبك التهوية على الحرارة والرطوبة.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/>
        </p:nvSpPr>
        <p:spPr>
          <a:xfrm>
            <a:off x="3400000" y="700000"/>
            <a:ext cx="50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8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العرض التوضيحي واللقطات</a:t>
            </a:r>
          </a:p>
        </p:txBody>
      </p:sp>
      <p:sp>
        <p:nvSpPr>
          <p:cNvPr id="3061" name="HB Text 3061"/>
          <p:cNvSpPr txBox="1"/>
          <p:nvPr/>
        </p:nvSpPr>
        <p:spPr>
          <a:xfrm>
            <a:off x="690000" y="1330000"/>
            <a:ext cx="777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مسار العرض أمام اللجنة: </a:t>
            </a:r>
            <a:r>
              <a:rPr lang="ar-SA" sz="11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من المشكلة إلى لحظة الإثبات الحية.</a:t>
            </a:r>
          </a:p>
        </p:txBody>
      </p:sp>
      <p:sp>
        <p:nvSpPr>
          <p:cNvPr id="3063" name="HB Photo Frame 3063"/>
          <p:cNvSpPr/>
          <p:nvPr/>
        </p:nvSpPr>
        <p:spPr>
          <a:xfrm>
            <a:off x="5970000" y="2960000"/>
            <a:ext cx="2490000" cy="1760000"/>
          </a:xfrm>
          <a:prstGeom prst="roundRect">
            <a:avLst>
              <a:gd name="adj" fmla="val 8000"/>
            </a:avLst>
          </a:prstGeom>
          <a:solidFill>
            <a:srgbClr val="120E20">
              <a:alpha val="80000"/>
            </a:srgbClr>
          </a:solidFill>
          <a:ln w="12700">
            <a:solidFill>
              <a:srgbClr val="6A5AA6"/>
            </a:solidFill>
            <a:prstDash val="dash"/>
          </a:ln>
        </p:spPr>
        <p:txBody>
          <a:bodyPr wrap="square" lIns="91440" tIns="73152" rIns="91440" bIns="73152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صورة العمود (النموذج الأولي)</a:t>
            </a:r>
          </a:p>
          <a:p>
            <a:pPr marL="0" indent="0" algn="ctr" rt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ضع الصورة هنا</a:t>
            </a:r>
          </a:p>
        </p:txBody>
      </p:sp>
      <p:sp>
        <p:nvSpPr>
          <p:cNvPr id="3064" name="HB Photo Frame 3064"/>
          <p:cNvSpPr/>
          <p:nvPr/>
        </p:nvSpPr>
        <p:spPr>
          <a:xfrm>
            <a:off x="3330000" y="2960000"/>
            <a:ext cx="2490000" cy="1760000"/>
          </a:xfrm>
          <a:prstGeom prst="roundRect">
            <a:avLst>
              <a:gd name="adj" fmla="val 8000"/>
            </a:avLst>
          </a:prstGeom>
          <a:solidFill>
            <a:srgbClr val="120E20">
              <a:alpha val="80000"/>
            </a:srgbClr>
          </a:solidFill>
          <a:ln w="12700">
            <a:solidFill>
              <a:srgbClr val="6A5AA6"/>
            </a:solidFill>
            <a:prstDash val="dash"/>
          </a:ln>
        </p:spPr>
        <p:txBody>
          <a:bodyPr wrap="square" lIns="91440" tIns="73152" rIns="91440" bIns="73152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لقطة اللوحة الحية</a:t>
            </a:r>
          </a:p>
          <a:p>
            <a:pPr marL="0" indent="0" algn="ctr" rt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ضع الصورة هنا</a:t>
            </a:r>
          </a:p>
        </p:txBody>
      </p:sp>
      <p:sp>
        <p:nvSpPr>
          <p:cNvPr id="3065" name="HB Photo Frame 3065"/>
          <p:cNvSpPr/>
          <p:nvPr/>
        </p:nvSpPr>
        <p:spPr>
          <a:xfrm>
            <a:off x="690000" y="2960000"/>
            <a:ext cx="2490000" cy="1760000"/>
          </a:xfrm>
          <a:prstGeom prst="roundRect">
            <a:avLst>
              <a:gd name="adj" fmla="val 8000"/>
            </a:avLst>
          </a:prstGeom>
          <a:solidFill>
            <a:srgbClr val="120E20">
              <a:alpha val="80000"/>
            </a:srgbClr>
          </a:solidFill>
          <a:ln w="12700">
            <a:solidFill>
              <a:srgbClr val="6A5AA6"/>
            </a:solidFill>
            <a:prstDash val="dash"/>
          </a:ln>
        </p:spPr>
        <p:txBody>
          <a:bodyPr wrap="square" lIns="91440" tIns="73152" rIns="91440" bIns="73152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لقطة من تصميم Figma</a:t>
            </a:r>
          </a:p>
          <a:p>
            <a:pPr marL="0" indent="0" algn="ctr" rt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00" b="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ضع الصورة هنا</a:t>
            </a:r>
          </a:p>
        </p:txBody>
      </p:sp>
      <p:sp>
        <p:nvSpPr>
          <p:cNvPr id="5002" name="HB Card 5002"/>
          <p:cNvSpPr/>
          <p:nvPr/>
        </p:nvSpPr>
        <p:spPr>
          <a:xfrm>
            <a:off x="6994000" y="1700000"/>
            <a:ext cx="1466000" cy="11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3" name="HB Badge 5003"/>
          <p:cNvSpPr/>
          <p:nvPr/>
        </p:nvSpPr>
        <p:spPr>
          <a:xfrm>
            <a:off x="8070000" y="1790000"/>
            <a:ext cx="300000" cy="300000"/>
          </a:xfrm>
          <a:prstGeom prst="ellipse">
            <a:avLst/>
          </a:prstGeom>
          <a:solidFill>
            <a:srgbClr val="46307B">
              <a:alpha val="100000"/>
            </a:srgb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1</a:t>
            </a:r>
          </a:p>
        </p:txBody>
      </p:sp>
      <p:sp>
        <p:nvSpPr>
          <p:cNvPr id="5004" name="HB Text 5004"/>
          <p:cNvSpPr txBox="1"/>
          <p:nvPr/>
        </p:nvSpPr>
        <p:spPr>
          <a:xfrm>
            <a:off x="7034000" y="2130000"/>
            <a:ext cx="1386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المشكلة والمسار</a:t>
            </a:r>
          </a:p>
        </p:txBody>
      </p:sp>
      <p:sp>
        <p:nvSpPr>
          <p:cNvPr id="5005" name="HB Text 5005"/>
          <p:cNvSpPr txBox="1"/>
          <p:nvPr/>
        </p:nvSpPr>
        <p:spPr>
          <a:xfrm>
            <a:off x="7034000" y="2430000"/>
            <a:ext cx="138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8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مسار الاستدامة، التحدي 2.3: الحر في المساحات الخارجية.</a:t>
            </a:r>
          </a:p>
        </p:txBody>
      </p:sp>
      <p:sp>
        <p:nvSpPr>
          <p:cNvPr id="5006" name="HB Card 5006"/>
          <p:cNvSpPr/>
          <p:nvPr/>
        </p:nvSpPr>
        <p:spPr>
          <a:xfrm>
            <a:off x="5418000" y="1700000"/>
            <a:ext cx="1466000" cy="11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7" name="HB Badge 5007"/>
          <p:cNvSpPr/>
          <p:nvPr/>
        </p:nvSpPr>
        <p:spPr>
          <a:xfrm>
            <a:off x="6494000" y="1790000"/>
            <a:ext cx="300000" cy="300000"/>
          </a:xfrm>
          <a:prstGeom prst="ellipse">
            <a:avLst/>
          </a:prstGeom>
          <a:solidFill>
            <a:srgbClr val="46307B">
              <a:alpha val="100000"/>
            </a:srgb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</a:t>
            </a:r>
          </a:p>
        </p:txBody>
      </p:sp>
      <p:sp>
        <p:nvSpPr>
          <p:cNvPr id="5008" name="HB Text 5008"/>
          <p:cNvSpPr txBox="1"/>
          <p:nvPr/>
        </p:nvSpPr>
        <p:spPr>
          <a:xfrm>
            <a:off x="5458000" y="2130000"/>
            <a:ext cx="1386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حل هبوب ومميزاته</a:t>
            </a:r>
          </a:p>
        </p:txBody>
      </p:sp>
      <p:sp>
        <p:nvSpPr>
          <p:cNvPr id="5009" name="HB Text 5009"/>
          <p:cNvSpPr txBox="1"/>
          <p:nvPr/>
        </p:nvSpPr>
        <p:spPr>
          <a:xfrm>
            <a:off x="5458000" y="2430000"/>
            <a:ext cx="138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8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إحساس الإنسان بدل حرارة الهواء، وقرار بدل رقم.</a:t>
            </a:r>
          </a:p>
        </p:txBody>
      </p:sp>
      <p:sp>
        <p:nvSpPr>
          <p:cNvPr id="5010" name="HB Card 5010"/>
          <p:cNvSpPr/>
          <p:nvPr/>
        </p:nvSpPr>
        <p:spPr>
          <a:xfrm>
            <a:off x="3842000" y="1700000"/>
            <a:ext cx="1466000" cy="11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11" name="HB Badge 5011"/>
          <p:cNvSpPr/>
          <p:nvPr/>
        </p:nvSpPr>
        <p:spPr>
          <a:xfrm>
            <a:off x="4918000" y="1790000"/>
            <a:ext cx="300000" cy="300000"/>
          </a:xfrm>
          <a:prstGeom prst="ellipse">
            <a:avLst/>
          </a:prstGeom>
          <a:solidFill>
            <a:srgbClr val="46307B">
              <a:alpha val="100000"/>
            </a:srgb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3</a:t>
            </a:r>
          </a:p>
        </p:txBody>
      </p:sp>
      <p:sp>
        <p:nvSpPr>
          <p:cNvPr id="5012" name="HB Text 5012"/>
          <p:cNvSpPr txBox="1"/>
          <p:nvPr/>
        </p:nvSpPr>
        <p:spPr>
          <a:xfrm>
            <a:off x="3882000" y="2130000"/>
            <a:ext cx="1386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عمود هبوب</a:t>
            </a:r>
          </a:p>
        </p:txBody>
      </p:sp>
      <p:sp>
        <p:nvSpPr>
          <p:cNvPr id="5013" name="HB Text 5013"/>
          <p:cNvSpPr txBox="1"/>
          <p:nvPr/>
        </p:nvSpPr>
        <p:spPr>
          <a:xfrm>
            <a:off x="3882000" y="2430000"/>
            <a:ext cx="138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8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نعرّف بالعمود وحساساته وتصميمه بنقش السدو.</a:t>
            </a:r>
          </a:p>
        </p:txBody>
      </p:sp>
      <p:sp>
        <p:nvSpPr>
          <p:cNvPr id="5014" name="HB Card 5014"/>
          <p:cNvSpPr/>
          <p:nvPr/>
        </p:nvSpPr>
        <p:spPr>
          <a:xfrm>
            <a:off x="2266000" y="1700000"/>
            <a:ext cx="1466000" cy="11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15" name="HB Badge 5015"/>
          <p:cNvSpPr/>
          <p:nvPr/>
        </p:nvSpPr>
        <p:spPr>
          <a:xfrm>
            <a:off x="3342000" y="1790000"/>
            <a:ext cx="300000" cy="300000"/>
          </a:xfrm>
          <a:prstGeom prst="ellipse">
            <a:avLst/>
          </a:prstGeom>
          <a:solidFill>
            <a:srgbClr val="46307B">
              <a:alpha val="100000"/>
            </a:srgb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4</a:t>
            </a:r>
          </a:p>
        </p:txBody>
      </p:sp>
      <p:sp>
        <p:nvSpPr>
          <p:cNvPr id="5016" name="HB Text 5016"/>
          <p:cNvSpPr txBox="1"/>
          <p:nvPr/>
        </p:nvSpPr>
        <p:spPr>
          <a:xfrm>
            <a:off x="2306000" y="2130000"/>
            <a:ext cx="1386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التحليل</a:t>
            </a:r>
          </a:p>
        </p:txBody>
      </p:sp>
      <p:sp>
        <p:nvSpPr>
          <p:cNvPr id="5017" name="HB Text 5017"/>
          <p:cNvSpPr txBox="1"/>
          <p:nvPr/>
        </p:nvSpPr>
        <p:spPr>
          <a:xfrm>
            <a:off x="2306000" y="2430000"/>
            <a:ext cx="138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8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النموذج يحسب المؤشر ويفسر السبب ويقترح الإجراء.</a:t>
            </a:r>
          </a:p>
        </p:txBody>
      </p:sp>
      <p:sp>
        <p:nvSpPr>
          <p:cNvPr id="5018" name="HB Card 5018"/>
          <p:cNvSpPr/>
          <p:nvPr/>
        </p:nvSpPr>
        <p:spPr>
          <a:xfrm>
            <a:off x="690000" y="1700000"/>
            <a:ext cx="1466000" cy="11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D30D3A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19" name="HB Badge 5019"/>
          <p:cNvSpPr/>
          <p:nvPr/>
        </p:nvSpPr>
        <p:spPr>
          <a:xfrm>
            <a:off x="1766000" y="1790000"/>
            <a:ext cx="300000" cy="300000"/>
          </a:xfrm>
          <a:prstGeom prst="ellipse">
            <a:avLst/>
          </a:prstGeom>
          <a:solidFill>
            <a:srgbClr val="D30D3A">
              <a:alpha val="100000"/>
            </a:srgb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5</a:t>
            </a:r>
          </a:p>
        </p:txBody>
      </p:sp>
      <p:sp>
        <p:nvSpPr>
          <p:cNvPr id="5020" name="HB Text 5020"/>
          <p:cNvSpPr txBox="1"/>
          <p:nvPr/>
        </p:nvSpPr>
        <p:spPr>
          <a:xfrm>
            <a:off x="730000" y="2130000"/>
            <a:ext cx="1386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الواجهات</a:t>
            </a:r>
          </a:p>
        </p:txBody>
      </p:sp>
      <p:sp>
        <p:nvSpPr>
          <p:cNvPr id="5021" name="HB Text 5021"/>
          <p:cNvSpPr txBox="1"/>
          <p:nvPr/>
        </p:nvSpPr>
        <p:spPr>
          <a:xfrm>
            <a:off x="730000" y="2430000"/>
            <a:ext cx="1386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8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نغيّر الظروف حول العمود، فتتغير الحالة والتوصية لحظيًا.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/>
        </p:nvSpPr>
        <p:spPr>
          <a:xfrm>
            <a:off x="3400000" y="700000"/>
            <a:ext cx="50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8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التحديات</a:t>
            </a:r>
          </a:p>
        </p:txBody>
      </p:sp>
      <p:sp>
        <p:nvSpPr>
          <p:cNvPr id="5002" name="HB Text 5002"/>
          <p:cNvSpPr txBox="1"/>
          <p:nvPr/>
        </p:nvSpPr>
        <p:spPr>
          <a:xfrm>
            <a:off x="3000000" y="1300000"/>
            <a:ext cx="54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تحديات تحويل هبوب إلى منتج يعمل في مواقع إكسبو، وكيف نعالجها</a:t>
            </a:r>
          </a:p>
        </p:txBody>
      </p:sp>
      <p:sp>
        <p:nvSpPr>
          <p:cNvPr id="5003" name="HB Card 5003"/>
          <p:cNvSpPr/>
          <p:nvPr/>
        </p:nvSpPr>
        <p:spPr>
          <a:xfrm>
            <a:off x="4620000" y="1700000"/>
            <a:ext cx="3840000" cy="13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دقة القياس في الواقع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الأسطح الساخنة وانعكاس الشمس وموضع العمود قد تُبعد القراءة عن إحساس الضيف الفعلي.</a:t>
            </a:r>
          </a:p>
          <a:p>
            <a:pPr marL="0" indent="0" algn="r" rtl="1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95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الحل: </a:t>
            </a:r>
            <a:r>
              <a:rPr lang="ar-SA" sz="95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معايرة دورية بأجهزة WBGT مرجعية، وإضافة كرة سوداء وحساس حرارة الأسطح، ودرع مهوّى يحمي الحساسات من الشمس.</a:t>
            </a:r>
          </a:p>
        </p:txBody>
      </p:sp>
      <p:sp>
        <p:nvSpPr>
          <p:cNvPr id="5004" name="HB Card 5004"/>
          <p:cNvSpPr/>
          <p:nvPr/>
        </p:nvSpPr>
        <p:spPr>
          <a:xfrm>
            <a:off x="700000" y="1700000"/>
            <a:ext cx="3840000" cy="13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نقاط القياس الثابتة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العمود الثابت لا يغطي المساحات بين الأعمدة ولا الفعاليات المؤقتة.</a:t>
            </a:r>
          </a:p>
          <a:p>
            <a:pPr marL="0" indent="0" algn="r" rtl="1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95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الحل: </a:t>
            </a:r>
            <a:r>
              <a:rPr lang="ar-SA" sz="95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تقدير حالة المناطق بين الأعمدة من قراءاتها ومن خصائص كل منطقة، ووحدات قياس متنقلة للفعاليات.</a:t>
            </a:r>
          </a:p>
        </p:txBody>
      </p:sp>
      <p:sp>
        <p:nvSpPr>
          <p:cNvPr id="5005" name="HB Card 5005"/>
          <p:cNvSpPr/>
          <p:nvPr/>
        </p:nvSpPr>
        <p:spPr>
          <a:xfrm>
            <a:off x="4620000" y="3140000"/>
            <a:ext cx="3840000" cy="13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جمع البيانات للتوقع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توقع الإجهاد قبل حدوثه يحتاج سجلًا محليًا طويلًا، والموقع جديد بلا سجل سابق.</a:t>
            </a:r>
          </a:p>
          <a:p>
            <a:pPr marL="0" indent="0" algn="r" rtl="1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95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الحل: </a:t>
            </a:r>
            <a:r>
              <a:rPr lang="ar-SA" sz="95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بناء السجل من الأعمدة نفسها منذ أول يوم، ودمجه ببيانات الطقس التاريخية (ERA5) لتدريب نموذج توقع محلي.</a:t>
            </a:r>
          </a:p>
        </p:txBody>
      </p:sp>
      <p:sp>
        <p:nvSpPr>
          <p:cNvPr id="5006" name="HB Card 5006"/>
          <p:cNvSpPr/>
          <p:nvPr/>
        </p:nvSpPr>
        <p:spPr>
          <a:xfrm>
            <a:off x="700000" y="3140000"/>
            <a:ext cx="3840000" cy="13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التكامل مع أنظمة الموقع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أجهزة التلطيف في إكسبو من أنظمة وموردين مختلفين، وبعضها لا يقبل التحكم عن بعد.</a:t>
            </a:r>
          </a:p>
          <a:p>
            <a:pPr marL="0" indent="0" algn="r" rtl="1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ar-SA" sz="95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الحل: </a:t>
            </a:r>
            <a:r>
              <a:rPr lang="ar-SA" sz="95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ربط مفتوح عبر إنترنت الأشياء، وأتمتة ما يدعم الأتمتة فقط، وتحويل الباقي إلى مهام لفريق التشغيل.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/>
        </p:nvSpPr>
        <p:spPr>
          <a:xfrm>
            <a:off x="2349750" y="2383675"/>
            <a:ext cx="4837800" cy="17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" sz="52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شكراً</a:t>
            </a:r>
            <a:endParaRPr sz="52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265" name="Google Shape;265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5886" y="985996"/>
            <a:ext cx="977418" cy="64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8" title="logo mis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8834" y="792925"/>
            <a:ext cx="1944378" cy="107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8" title="Riyadh Expo 2030(1).png"/>
          <p:cNvPicPr preferRelativeResize="0"/>
          <p:nvPr/>
        </p:nvPicPr>
        <p:blipFill rotWithShape="1">
          <a:blip r:embed="rId6">
            <a:alphaModFix/>
          </a:blip>
          <a:srcRect l="14448" t="33687" r="14448" b="33690"/>
          <a:stretch/>
        </p:blipFill>
        <p:spPr>
          <a:xfrm>
            <a:off x="2137332" y="1061327"/>
            <a:ext cx="1628005" cy="746978"/>
          </a:xfrm>
          <a:prstGeom prst="rect">
            <a:avLst/>
          </a:prstGeom>
          <a:noFill/>
          <a:ln>
            <a:noFill/>
          </a:ln>
        </p:spPr>
      </p:pic>
      <p:sp>
        <p:nvSpPr>
          <p:cNvPr id="3069" name="HB Text 3069"/>
          <p:cNvSpPr txBox="1"/>
          <p:nvPr/>
        </p:nvSpPr>
        <p:spPr>
          <a:xfrm>
            <a:off x="1500000" y="3980000"/>
            <a:ext cx="6144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b="0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هبوب: نقيس ما يشعر به الضيف، ونحوّله إلى قرار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/>
        </p:nvSpPr>
        <p:spPr>
          <a:xfrm>
            <a:off x="5006100" y="833150"/>
            <a:ext cx="345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التقنيات المستخدمة</a:t>
            </a:r>
            <a:endParaRPr sz="2500" b="0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002" name="HB Text 5002"/>
          <p:cNvSpPr txBox="1"/>
          <p:nvPr/>
        </p:nvSpPr>
        <p:spPr>
          <a:xfrm>
            <a:off x="4400000" y="1330000"/>
            <a:ext cx="40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من البيانات إلى القرار  ·  2 / 2</a:t>
            </a:r>
          </a:p>
        </p:txBody>
      </p:sp>
      <p:sp>
        <p:nvSpPr>
          <p:cNvPr id="5003" name="HB Card 5003"/>
          <p:cNvSpPr/>
          <p:nvPr/>
        </p:nvSpPr>
        <p:spPr>
          <a:xfrm>
            <a:off x="5980000" y="1700000"/>
            <a:ext cx="2480000" cy="311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4" name="HB Text 5004"/>
          <p:cNvSpPr txBox="1"/>
          <p:nvPr/>
        </p:nvSpPr>
        <p:spPr>
          <a:xfrm>
            <a:off x="6010000" y="1750000"/>
            <a:ext cx="242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الحساب والتحليل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وحدة Python تحسب مؤشر WBGT بطريقة Liljegren (مكتبة thermofeel من ECMWF) وفق ISO 7243، وتصنف المنطقة، وتفسر السبب، وتقترح الإجراء مع أثره المتوقع.</a:t>
            </a:r>
          </a:p>
        </p:txBody>
      </p:sp>
      <p:pic>
        <p:nvPicPr>
          <p:cNvPr id="5005" name="HB Image 5005" descr="أعلام الإجهاد والتوصية"/>
          <p:cNvPicPr>
            <a:picLocks noChangeAspect="1"/>
          </p:cNvPicPr>
          <p:nvPr/>
        </p:nvPicPr>
        <p:blipFill>
          <a:blip r:embed="rIdHB125"/>
          <a:stretch>
            <a:fillRect/>
          </a:stretch>
        </p:blipFill>
        <p:spPr>
          <a:xfrm>
            <a:off x="6103430" y="3030000"/>
            <a:ext cx="2233139" cy="1670000"/>
          </a:xfrm>
          <a:prstGeom prst="roundRect">
            <a:avLst>
              <a:gd name="adj" fmla="val 4000"/>
            </a:avLst>
          </a:prstGeom>
        </p:spPr>
      </p:pic>
      <p:sp>
        <p:nvSpPr>
          <p:cNvPr id="5006" name="HB Card 5006"/>
          <p:cNvSpPr/>
          <p:nvPr/>
        </p:nvSpPr>
        <p:spPr>
          <a:xfrm>
            <a:off x="3340000" y="1700000"/>
            <a:ext cx="2480000" cy="311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7" name="HB Text 5007"/>
          <p:cNvSpPr txBox="1"/>
          <p:nvPr/>
        </p:nvSpPr>
        <p:spPr>
          <a:xfrm>
            <a:off x="3370000" y="1750000"/>
            <a:ext cx="242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واجهة المشغل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لوحة يرى فيها المشغل حالة كل منطقة على الخريطة، والتنبيهات والتحليلات، والتوصية بالإجراء. هدفها قرار واضح في ثوانٍ.</a:t>
            </a:r>
          </a:p>
        </p:txBody>
      </p:sp>
      <p:pic>
        <p:nvPicPr>
          <p:cNvPr id="5008" name="HB Image 5008" descr="واجهة المشغل ببيانات عرض تجريبية"/>
          <p:cNvPicPr>
            <a:picLocks noChangeAspect="1"/>
          </p:cNvPicPr>
          <p:nvPr/>
        </p:nvPicPr>
        <p:blipFill>
          <a:blip r:embed="rIdHB126"/>
          <a:stretch>
            <a:fillRect/>
          </a:stretch>
        </p:blipFill>
        <p:spPr>
          <a:xfrm>
            <a:off x="3450000" y="3229375"/>
            <a:ext cx="2260000" cy="1271250"/>
          </a:xfrm>
          <a:prstGeom prst="roundRect">
            <a:avLst>
              <a:gd name="adj" fmla="val 4000"/>
            </a:avLst>
          </a:prstGeom>
        </p:spPr>
      </p:pic>
      <p:sp>
        <p:nvSpPr>
          <p:cNvPr id="5009" name="HB Card 5009"/>
          <p:cNvSpPr/>
          <p:nvPr/>
        </p:nvSpPr>
        <p:spPr>
          <a:xfrm>
            <a:off x="700000" y="1700000"/>
            <a:ext cx="2480000" cy="311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10" name="HB Text 5010"/>
          <p:cNvSpPr txBox="1"/>
          <p:nvPr/>
        </p:nvSpPr>
        <p:spPr>
          <a:xfrm>
            <a:off x="730000" y="1750000"/>
            <a:ext cx="242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التصميم والتصنيع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تصميم هندسي بالكود في Onshape (FeatureScript)، وطباعة ثلاثية الأبعاد للعمود وغلافه بنقش السدو، ليكون جزءًا من ديكور المكان.</a:t>
            </a:r>
          </a:p>
        </p:txBody>
      </p:sp>
      <p:pic>
        <p:nvPicPr>
          <p:cNvPr id="5011" name="HB Image 5011" descr="تصور العمود بزخارف قابلة للتخصيص"/>
          <p:cNvPicPr>
            <a:picLocks noChangeAspect="1"/>
          </p:cNvPicPr>
          <p:nvPr/>
        </p:nvPicPr>
        <p:blipFill>
          <a:blip r:embed="rIdHB127"/>
          <a:stretch>
            <a:fillRect/>
          </a:stretch>
        </p:blipFill>
        <p:spPr>
          <a:xfrm>
            <a:off x="810000" y="3111667"/>
            <a:ext cx="2260000" cy="1506666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/>
        </p:nvSpPr>
        <p:spPr>
          <a:xfrm>
            <a:off x="3400000" y="700000"/>
            <a:ext cx="50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80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الخطط المستقبلية</a:t>
            </a:r>
          </a:p>
        </p:txBody>
      </p:sp>
      <p:sp>
        <p:nvSpPr>
          <p:cNvPr id="5002" name="HB Text 5002"/>
          <p:cNvSpPr txBox="1"/>
          <p:nvPr/>
        </p:nvSpPr>
        <p:spPr>
          <a:xfrm>
            <a:off x="3000000" y="1300000"/>
            <a:ext cx="54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00" b="1" dirty="0">
                <a:solidFill>
                  <a:srgbClr val="8980B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خارطة الطريق: أربع مراحل تكمل ما بدأناه في كل تخصص</a:t>
            </a:r>
          </a:p>
        </p:txBody>
      </p:sp>
      <p:sp>
        <p:nvSpPr>
          <p:cNvPr id="5003" name="HB Card 5003"/>
          <p:cNvSpPr/>
          <p:nvPr/>
        </p:nvSpPr>
        <p:spPr>
          <a:xfrm>
            <a:off x="6600000" y="1700000"/>
            <a:ext cx="1860000" cy="172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4" name="HB Pill 5004"/>
          <p:cNvSpPr/>
          <p:nvPr/>
        </p:nvSpPr>
        <p:spPr>
          <a:xfrm>
            <a:off x="7450000" y="1800000"/>
            <a:ext cx="900000" cy="250000"/>
          </a:xfrm>
          <a:prstGeom prst="roundRect">
            <a:avLst>
              <a:gd name="adj" fmla="val 50000"/>
            </a:avLst>
          </a:prstGeom>
          <a:solidFill>
            <a:srgbClr val="D30D3A">
              <a:alpha val="100000"/>
            </a:srgbClr>
          </a:solidFill>
          <a:ln>
            <a:noFill/>
          </a:ln>
        </p:spPr>
        <p:txBody>
          <a:bodyPr wrap="square" lIns="60000" tIns="0" rIns="6000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المرحلة 1</a:t>
            </a:r>
          </a:p>
        </p:txBody>
      </p:sp>
      <p:sp>
        <p:nvSpPr>
          <p:cNvPr id="5005" name="HB Text 5005"/>
          <p:cNvSpPr txBox="1"/>
          <p:nvPr/>
        </p:nvSpPr>
        <p:spPr>
          <a:xfrm>
            <a:off x="6630000" y="2100000"/>
            <a:ext cx="18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العتاد والعمود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تحويل العمود إلى نموذج صناعي متين للبيئة الخارجية، وإضافة الكرة السوداء وحساس الأسطح، ونسخة متنقلة.</a:t>
            </a:r>
          </a:p>
        </p:txBody>
      </p:sp>
      <p:sp>
        <p:nvSpPr>
          <p:cNvPr id="5006" name="HB Card 5006"/>
          <p:cNvSpPr/>
          <p:nvPr/>
        </p:nvSpPr>
        <p:spPr>
          <a:xfrm>
            <a:off x="4633333" y="1700000"/>
            <a:ext cx="1860000" cy="172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07" name="HB Pill 5007"/>
          <p:cNvSpPr/>
          <p:nvPr/>
        </p:nvSpPr>
        <p:spPr>
          <a:xfrm>
            <a:off x="5483333" y="1800000"/>
            <a:ext cx="900000" cy="250000"/>
          </a:xfrm>
          <a:prstGeom prst="roundRect">
            <a:avLst>
              <a:gd name="adj" fmla="val 50000"/>
            </a:avLst>
          </a:prstGeom>
          <a:solidFill>
            <a:srgbClr val="46307B">
              <a:alpha val="100000"/>
            </a:srgbClr>
          </a:solidFill>
          <a:ln>
            <a:noFill/>
          </a:ln>
        </p:spPr>
        <p:txBody>
          <a:bodyPr wrap="square" lIns="60000" tIns="0" rIns="6000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المرحلة 2</a:t>
            </a:r>
          </a:p>
        </p:txBody>
      </p:sp>
      <p:sp>
        <p:nvSpPr>
          <p:cNvPr id="5008" name="HB Text 5008"/>
          <p:cNvSpPr txBox="1"/>
          <p:nvPr/>
        </p:nvSpPr>
        <p:spPr>
          <a:xfrm>
            <a:off x="4663333" y="2100000"/>
            <a:ext cx="18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الذكاء الاصطناعي وعلم البيانات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نموذج يتوقع الإجهاد للساعات القادمة ويتعلم من سجل الموقع، ويقدّر حالة المناطق بين الأعمدة.</a:t>
            </a:r>
          </a:p>
        </p:txBody>
      </p:sp>
      <p:sp>
        <p:nvSpPr>
          <p:cNvPr id="5009" name="HB Card 5009"/>
          <p:cNvSpPr/>
          <p:nvPr/>
        </p:nvSpPr>
        <p:spPr>
          <a:xfrm>
            <a:off x="2666666" y="1700000"/>
            <a:ext cx="1860000" cy="172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10" name="HB Pill 5010"/>
          <p:cNvSpPr/>
          <p:nvPr/>
        </p:nvSpPr>
        <p:spPr>
          <a:xfrm>
            <a:off x="3516666" y="1800000"/>
            <a:ext cx="900000" cy="250000"/>
          </a:xfrm>
          <a:prstGeom prst="roundRect">
            <a:avLst>
              <a:gd name="adj" fmla="val 50000"/>
            </a:avLst>
          </a:prstGeom>
          <a:solidFill>
            <a:srgbClr val="46307B">
              <a:alpha val="100000"/>
            </a:srgbClr>
          </a:solidFill>
          <a:ln>
            <a:noFill/>
          </a:ln>
        </p:spPr>
        <p:txBody>
          <a:bodyPr wrap="square" lIns="60000" tIns="0" rIns="6000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المرحلة 3</a:t>
            </a:r>
          </a:p>
        </p:txBody>
      </p:sp>
      <p:sp>
        <p:nvSpPr>
          <p:cNvPr id="5011" name="HB Text 5011"/>
          <p:cNvSpPr txBox="1"/>
          <p:nvPr/>
        </p:nvSpPr>
        <p:spPr>
          <a:xfrm>
            <a:off x="2696666" y="2100000"/>
            <a:ext cx="18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الواجهات وتجربة المستخدم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اختبار الواجهات مع فرق التشغيل والصيانة، وتحليل احتياجاتهم، وتحسين التصميم بناءً عليها.</a:t>
            </a:r>
          </a:p>
        </p:txBody>
      </p:sp>
      <p:sp>
        <p:nvSpPr>
          <p:cNvPr id="5012" name="HB Card 5012"/>
          <p:cNvSpPr/>
          <p:nvPr/>
        </p:nvSpPr>
        <p:spPr>
          <a:xfrm>
            <a:off x="699999" y="1700000"/>
            <a:ext cx="1860000" cy="172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3A2C66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 </a:t>
            </a:r>
          </a:p>
        </p:txBody>
      </p:sp>
      <p:sp>
        <p:nvSpPr>
          <p:cNvPr id="5013" name="HB Pill 5013"/>
          <p:cNvSpPr/>
          <p:nvPr/>
        </p:nvSpPr>
        <p:spPr>
          <a:xfrm>
            <a:off x="1549999" y="1800000"/>
            <a:ext cx="900000" cy="250000"/>
          </a:xfrm>
          <a:prstGeom prst="roundRect">
            <a:avLst>
              <a:gd name="adj" fmla="val 50000"/>
            </a:avLst>
          </a:prstGeom>
          <a:solidFill>
            <a:srgbClr val="46307B">
              <a:alpha val="100000"/>
            </a:srgbClr>
          </a:solidFill>
          <a:ln>
            <a:noFill/>
          </a:ln>
        </p:spPr>
        <p:txBody>
          <a:bodyPr wrap="square" lIns="60000" tIns="0" rIns="60000" bIns="0" anchor="ctr" anchorCtr="0">
            <a:noAutofit/>
          </a:bodyPr>
          <a:lstStyle/>
          <a:p>
            <a:pPr mar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90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المرحلة 4</a:t>
            </a:r>
          </a:p>
        </p:txBody>
      </p:sp>
      <p:sp>
        <p:nvSpPr>
          <p:cNvPr id="5014" name="HB Text 5014"/>
          <p:cNvSpPr txBox="1"/>
          <p:nvPr/>
        </p:nvSpPr>
        <p:spPr>
          <a:xfrm>
            <a:off x="729999" y="2100000"/>
            <a:ext cx="18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150" b="1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الربط والتشغيل</a:t>
            </a:r>
          </a:p>
          <a:p>
            <a:pPr marL="0" indent="0" algn="r" rtl="1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ar-SA" sz="950" b="0" dirty="0">
                <a:solidFill>
                  <a:srgbClr val="C9C4E4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برمجة المنصة كاملة وربطها بالأعمدة وأنظمة التلطيف، ثم تجربة ميدانية في منطقة واحدة قبل التعميم.</a:t>
            </a:r>
          </a:p>
        </p:txBody>
      </p:sp>
      <p:sp>
        <p:nvSpPr>
          <p:cNvPr id="5015" name="HB Card 5015"/>
          <p:cNvSpPr/>
          <p:nvPr/>
        </p:nvSpPr>
        <p:spPr>
          <a:xfrm>
            <a:off x="700000" y="3540000"/>
            <a:ext cx="7760000" cy="1250000"/>
          </a:xfrm>
          <a:prstGeom prst="roundRect">
            <a:avLst>
              <a:gd name="adj" fmla="val 9000"/>
            </a:avLst>
          </a:prstGeom>
          <a:solidFill>
            <a:srgbClr val="1A1530">
              <a:alpha val="88000"/>
            </a:srgbClr>
          </a:solidFill>
          <a:ln w="9525">
            <a:solidFill>
              <a:srgbClr val="D30D3A"/>
            </a:solidFill>
          </a:ln>
        </p:spPr>
        <p:txBody>
          <a:bodyPr wrap="square" lIns="110000" tIns="90000" rIns="110000" bIns="90000" anchor="t" anchorCtr="0">
            <a:noAutofit/>
          </a:bodyPr>
          <a:lstStyle/>
          <a:p>
            <a:pPr marL="0" indent="0" algn="r" rtl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ar-SA" sz="1150" b="1" dirty="0">
                <a:solidFill>
                  <a:srgbClr val="D30D3A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ما نحتاج المساعدة فيه</a:t>
            </a:r>
          </a:p>
          <a:p>
            <a:pPr marL="150000" indent="-150000" algn="r" rtl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D30D3A"/>
              </a:buClr>
              <a:buSzPct val="100000"/>
              <a:buFont typeface="Arial"/>
              <a:buChar char="•"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دعم تطوير نموذج صناعي للعمود يناسب مواقع إكسبو.</a:t>
            </a:r>
          </a:p>
          <a:p>
            <a:pPr marL="150000" indent="-150000" algn="r" rtl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D30D3A"/>
              </a:buClr>
              <a:buSzPct val="100000"/>
              <a:buFont typeface="Arial"/>
              <a:buChar char="•"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ملاحظات فرق التشغيل على الواجهات وأولويات القرار.</a:t>
            </a:r>
          </a:p>
          <a:p>
            <a:pPr marL="150000" indent="-150000" algn="r" rtl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D30D3A"/>
              </a:buClr>
              <a:buSzPct val="100000"/>
              <a:buFont typeface="Arial"/>
              <a:buChar char="•"/>
            </a:pPr>
            <a:r>
              <a:rPr lang="ar-SA" sz="1000" b="0" dirty="0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التعرف على أنظمة التلطيف القائمة في الموقع، ومدى قابليتها للأتمتة.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1297</Words>
  <Application>Microsoft Macintosh PowerPoint</Application>
  <PresentationFormat>On-screen Show (16:9)</PresentationFormat>
  <Paragraphs>148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IBM Plex Sans Arabic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ساره صالح بغداد العنزي</cp:lastModifiedBy>
  <cp:revision>3</cp:revision>
  <dcterms:modified xsi:type="dcterms:W3CDTF">2026-10-15T09:21:31Z</dcterms:modified>
</cp:coreProperties>
</file>