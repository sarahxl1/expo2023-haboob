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3c1c94764568f31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h3c1c94764568f31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3c1c94764568f31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h3c1c94764568f31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3c1c94764568f31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h3c1c94764568f31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3c1c94764568f31_3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h3c1c94764568f31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3c1c94764568f31_3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h3c1c94764568f31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3c1c94764568f31_3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h3c1c94764568f31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3c1c94764568f31_3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h3c1c94764568f31_3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3c1c94764568f31_3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h3c1c94764568f31_3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3c1c94764568f31_3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h3c1c94764568f31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3c1c94764568f31_3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h3c1c94764568f31_3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c1c94764568f31_3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3c1c94764568f31_3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3c1c94764568f31_3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h3c1c94764568f31_3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3c1c94764568f31_3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h3c1c94764568f31_3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3c1c94764568f31_3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h3c1c94764568f31_3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4" name="Google Shape;54;p14" title="hglsn.png"/>
          <p:cNvPicPr preferRelativeResize="0"/>
          <p:nvPr/>
        </p:nvPicPr>
        <p:blipFill rotWithShape="1">
          <a:blip r:embed="rId2">
            <a:alphaModFix/>
          </a:blip>
          <a:srcRect b="0" l="35846" r="25951" t="2629"/>
          <a:stretch/>
        </p:blipFill>
        <p:spPr>
          <a:xfrm>
            <a:off x="-144000" y="-122975"/>
            <a:ext cx="9445627" cy="52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-1838425" y="-1302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6E7D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6.jp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5.jp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/>
        </p:nvSpPr>
        <p:spPr>
          <a:xfrm>
            <a:off x="863550" y="2547075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Arial"/>
              <a:buNone/>
            </a:pPr>
            <a:r>
              <a:rPr b="1" i="0" lang="en" sz="322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اسم المشروع</a:t>
            </a:r>
            <a:endParaRPr b="1" i="0" sz="322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97" name="Google Shape;97;p25"/>
          <p:cNvSpPr txBox="1"/>
          <p:nvPr/>
        </p:nvSpPr>
        <p:spPr>
          <a:xfrm>
            <a:off x="863550" y="3190975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اسم الفريق</a:t>
            </a:r>
            <a:endParaRPr b="0" i="0" sz="28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98" name="Google Shape;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5886" y="985996"/>
            <a:ext cx="977418" cy="64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5" title="logo mis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8834" y="792925"/>
            <a:ext cx="1944378" cy="107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 title="Riyadh Expo 2030(1).png"/>
          <p:cNvPicPr preferRelativeResize="0"/>
          <p:nvPr/>
        </p:nvPicPr>
        <p:blipFill rotWithShape="1">
          <a:blip r:embed="rId6">
            <a:alphaModFix/>
          </a:blip>
          <a:srcRect b="33690" l="14448" r="14448" t="33687"/>
          <a:stretch/>
        </p:blipFill>
        <p:spPr>
          <a:xfrm>
            <a:off x="2137332" y="1061327"/>
            <a:ext cx="1628005" cy="74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720000" y="11308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</a:t>
            </a:r>
            <a:endParaRPr b="0" i="0" sz="28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4926974" y="2007579"/>
            <a:ext cx="1044900" cy="1044900"/>
          </a:xfrm>
          <a:prstGeom prst="ellipse">
            <a:avLst/>
          </a:prstGeom>
          <a:solidFill>
            <a:srgbClr val="03234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6495906" y="2007579"/>
            <a:ext cx="1044900" cy="1044900"/>
          </a:xfrm>
          <a:prstGeom prst="ellipse">
            <a:avLst/>
          </a:prstGeom>
          <a:solidFill>
            <a:srgbClr val="03234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6122163" y="3195325"/>
            <a:ext cx="1638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اسم العضو</a:t>
            </a:r>
            <a:endParaRPr b="0" i="0" sz="14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>
            <a:off x="4623730" y="3195325"/>
            <a:ext cx="1638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اسم العضو</a:t>
            </a:r>
            <a:endParaRPr b="0" i="0" sz="14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3006675" y="3195325"/>
            <a:ext cx="1638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اسم العضو</a:t>
            </a:r>
            <a:endParaRPr b="0" i="0" sz="14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1383230" y="3195325"/>
            <a:ext cx="1638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2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اسم العضو</a:t>
            </a:r>
            <a:endParaRPr b="0" i="0" sz="14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680074" y="2007579"/>
            <a:ext cx="1044900" cy="1044900"/>
          </a:xfrm>
          <a:prstGeom prst="ellipse">
            <a:avLst/>
          </a:prstGeom>
          <a:solidFill>
            <a:srgbClr val="03234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3303531" y="2007579"/>
            <a:ext cx="1044900" cy="1044900"/>
          </a:xfrm>
          <a:prstGeom prst="ellipse">
            <a:avLst/>
          </a:prstGeom>
          <a:solidFill>
            <a:srgbClr val="03234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6" title="us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5725" y="2273225"/>
            <a:ext cx="513597" cy="51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 title="us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9175" y="2273225"/>
            <a:ext cx="513597" cy="51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6" title="us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2613" y="2273225"/>
            <a:ext cx="513597" cy="51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6" title="use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1550" y="2273225"/>
            <a:ext cx="513597" cy="513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/>
        </p:nvSpPr>
        <p:spPr>
          <a:xfrm>
            <a:off x="677425" y="1054150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المحتويات:</a:t>
            </a:r>
            <a:endParaRPr b="1" i="0" sz="28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6035350" y="179642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0" i="0" lang="en" sz="152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 </a:t>
            </a:r>
            <a:endParaRPr b="0" i="0" sz="152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7697600" y="1796425"/>
            <a:ext cx="384000" cy="384000"/>
          </a:xfrm>
          <a:prstGeom prst="roundRect">
            <a:avLst>
              <a:gd fmla="val 18808" name="adj"/>
            </a:avLst>
          </a:prstGeom>
          <a:solidFill>
            <a:srgbClr val="46307B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01</a:t>
            </a:r>
            <a:endParaRPr b="1" i="0" sz="13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6035350" y="245597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0" i="0" lang="en" sz="152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وحلها</a:t>
            </a:r>
            <a:endParaRPr b="0" i="0" sz="152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7697600" y="2455975"/>
            <a:ext cx="384000" cy="384000"/>
          </a:xfrm>
          <a:prstGeom prst="roundRect">
            <a:avLst>
              <a:gd fmla="val 18808" name="adj"/>
            </a:avLst>
          </a:prstGeom>
          <a:solidFill>
            <a:srgbClr val="46307B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02</a:t>
            </a:r>
            <a:endParaRPr b="1" i="0" sz="13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7" name="Google Shape;127;p27"/>
          <p:cNvSpPr txBox="1"/>
          <p:nvPr/>
        </p:nvSpPr>
        <p:spPr>
          <a:xfrm>
            <a:off x="5743275" y="3141675"/>
            <a:ext cx="187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0" i="0" lang="en" sz="152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الفكرة</a:t>
            </a:r>
            <a:endParaRPr b="0" i="0" sz="152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8" name="Google Shape;128;p27"/>
          <p:cNvSpPr/>
          <p:nvPr/>
        </p:nvSpPr>
        <p:spPr>
          <a:xfrm>
            <a:off x="7697600" y="3141675"/>
            <a:ext cx="384000" cy="384000"/>
          </a:xfrm>
          <a:prstGeom prst="roundRect">
            <a:avLst>
              <a:gd fmla="val 18808" name="adj"/>
            </a:avLst>
          </a:prstGeom>
          <a:solidFill>
            <a:srgbClr val="46307B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03</a:t>
            </a:r>
            <a:endParaRPr b="1" i="0" sz="13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6035350" y="3801225"/>
            <a:ext cx="158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0" i="0" lang="en" sz="152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b="0" i="0" sz="152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7697600" y="3801225"/>
            <a:ext cx="384000" cy="384000"/>
          </a:xfrm>
          <a:prstGeom prst="roundRect">
            <a:avLst>
              <a:gd fmla="val 18808" name="adj"/>
            </a:avLst>
          </a:prstGeom>
          <a:solidFill>
            <a:srgbClr val="46307B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04</a:t>
            </a:r>
            <a:endParaRPr b="1" i="0" sz="13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1645150" y="1796425"/>
            <a:ext cx="3797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0" i="0" lang="en" sz="152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جميع البيانات المستخدمة (نصية وغير نصية)</a:t>
            </a:r>
            <a:endParaRPr b="0" i="0" sz="152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2" name="Google Shape;132;p27"/>
          <p:cNvSpPr/>
          <p:nvPr/>
        </p:nvSpPr>
        <p:spPr>
          <a:xfrm>
            <a:off x="5518425" y="1796425"/>
            <a:ext cx="384000" cy="384000"/>
          </a:xfrm>
          <a:prstGeom prst="roundRect">
            <a:avLst>
              <a:gd fmla="val 18808" name="adj"/>
            </a:avLst>
          </a:prstGeom>
          <a:solidFill>
            <a:srgbClr val="46307B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05</a:t>
            </a:r>
            <a:endParaRPr b="1" i="0" sz="13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1100275" y="2455975"/>
            <a:ext cx="434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0" i="0" lang="en" sz="152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كيفية توفير هذه البيانات وكيفية استخدامها</a:t>
            </a:r>
            <a:endParaRPr b="0" i="0" sz="152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4" name="Google Shape;134;p27"/>
          <p:cNvSpPr/>
          <p:nvPr/>
        </p:nvSpPr>
        <p:spPr>
          <a:xfrm>
            <a:off x="5518425" y="2455975"/>
            <a:ext cx="384000" cy="384000"/>
          </a:xfrm>
          <a:prstGeom prst="roundRect">
            <a:avLst>
              <a:gd fmla="val 18808" name="adj"/>
            </a:avLst>
          </a:prstGeom>
          <a:solidFill>
            <a:srgbClr val="46307B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06</a:t>
            </a:r>
            <a:endParaRPr b="1" i="0" sz="13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3358025" y="3141675"/>
            <a:ext cx="208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0" i="0" lang="en" sz="152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ملخص</a:t>
            </a:r>
            <a:endParaRPr b="0" i="0" sz="152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6" name="Google Shape;136;p27"/>
          <p:cNvSpPr/>
          <p:nvPr/>
        </p:nvSpPr>
        <p:spPr>
          <a:xfrm>
            <a:off x="5518425" y="3141675"/>
            <a:ext cx="384000" cy="384000"/>
          </a:xfrm>
          <a:prstGeom prst="roundRect">
            <a:avLst>
              <a:gd fmla="val 18808" name="adj"/>
            </a:avLst>
          </a:prstGeom>
          <a:solidFill>
            <a:srgbClr val="46307B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07</a:t>
            </a:r>
            <a:endParaRPr b="1" i="0" sz="13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/>
        </p:nvSpPr>
        <p:spPr>
          <a:xfrm>
            <a:off x="6057900" y="833150"/>
            <a:ext cx="239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 وحلّها</a:t>
            </a:r>
            <a:endParaRPr b="0" i="0" sz="28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1826100" y="1476175"/>
            <a:ext cx="6631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المشكلة التي يواجهها المشروع أو الجمهور المستهدف، إلى جانب الحل المقترح وكيفية تقديمه بشكل مبتكر وفعّال.</a:t>
            </a:r>
            <a:endParaRPr b="0" i="0" sz="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1742859" y="2064697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Utilize technology and customer feedback to come up with novel solutions that meet your customer’s demands or needs</a:t>
            </a:r>
            <a:endParaRPr b="0" i="0" sz="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1742859" y="2837194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Monitor changes in the marketplace, such as shifts in consumer behavior or emerging technologies, to stay competitive and capitalize on new opportunities and trends</a:t>
            </a:r>
            <a:endParaRPr b="0" i="0" sz="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1742859" y="3633604"/>
            <a:ext cx="3707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Identify times of year when demand for certain products may spike, such as holidays or special occasions, and use these times to target customers or maximize sales</a:t>
            </a:r>
            <a:endParaRPr b="0" i="0" sz="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5487775" y="2064697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Innovative solutions</a:t>
            </a:r>
            <a:endParaRPr b="0" i="0" sz="15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5487775" y="2837194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Stay ahead of trends</a:t>
            </a:r>
            <a:endParaRPr b="0" i="0" sz="15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487775" y="3633604"/>
            <a:ext cx="2118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Seasonal spikes</a:t>
            </a:r>
            <a:endParaRPr b="0" i="0" sz="15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49" name="Google Shape;149;p28"/>
          <p:cNvGrpSpPr/>
          <p:nvPr/>
        </p:nvGrpSpPr>
        <p:grpSpPr>
          <a:xfrm>
            <a:off x="7972475" y="2059231"/>
            <a:ext cx="485125" cy="639432"/>
            <a:chOff x="7753313" y="2059231"/>
            <a:chExt cx="485125" cy="639432"/>
          </a:xfrm>
        </p:grpSpPr>
        <p:pic>
          <p:nvPicPr>
            <p:cNvPr id="150" name="Google Shape;150;p28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8" title="idea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28"/>
          <p:cNvGrpSpPr/>
          <p:nvPr/>
        </p:nvGrpSpPr>
        <p:grpSpPr>
          <a:xfrm>
            <a:off x="8020800" y="2848776"/>
            <a:ext cx="388475" cy="584313"/>
            <a:chOff x="7849975" y="3023575"/>
            <a:chExt cx="388475" cy="584313"/>
          </a:xfrm>
        </p:grpSpPr>
        <p:pic>
          <p:nvPicPr>
            <p:cNvPr id="153" name="Google Shape;153;p28" title="trending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49975" y="3023575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8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49975" y="3219413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28"/>
          <p:cNvGrpSpPr/>
          <p:nvPr/>
        </p:nvGrpSpPr>
        <p:grpSpPr>
          <a:xfrm>
            <a:off x="8003424" y="3583230"/>
            <a:ext cx="423226" cy="565597"/>
            <a:chOff x="7815224" y="3702152"/>
            <a:chExt cx="423226" cy="565597"/>
          </a:xfrm>
        </p:grpSpPr>
        <p:pic>
          <p:nvPicPr>
            <p:cNvPr id="156" name="Google Shape;156;p28" title="flash-sale-2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15224" y="3702152"/>
              <a:ext cx="423224" cy="42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8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49975" y="3879274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4916400" y="833150"/>
            <a:ext cx="35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البيانات المستخدمة</a:t>
            </a:r>
            <a:endParaRPr b="0" i="0" sz="28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1826100" y="1349823"/>
            <a:ext cx="6631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يشرح القسم كل البيانات التي تم جمعها أو توليدها خلال المشروع، سواء كانت نصية مثل النصوص أو غير نصية مثل الصور والرسوم البيانية.</a:t>
            </a:r>
            <a:endParaRPr b="0" i="0" sz="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968100" y="2021083"/>
            <a:ext cx="74895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b="0" i="0" lang="en" sz="10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هي مصادر البيانات التي استخدمتها؟</a:t>
            </a:r>
            <a:endParaRPr b="0" i="0" sz="10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-2921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b="0" i="0" lang="en" sz="10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الذي قمت به لتنظيفها أو معالجتها؟</a:t>
            </a:r>
            <a:endParaRPr b="0" i="0" sz="10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-2921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Arabic"/>
              <a:buChar char="●"/>
            </a:pPr>
            <a:r>
              <a:rPr b="0" i="0" lang="en" sz="10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هي التحديات التي واجهتك في جمع البيانات؟ (مثل صعوبة الوصول إلى البيانات البيومترية للرياضيين).</a:t>
            </a:r>
            <a:endParaRPr b="0" i="0" sz="10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165" name="Google Shape;165;p29" title="Untitled-3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7738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2465900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0%</a:t>
            </a:r>
            <a:endParaRPr b="0" i="0" sz="2200" u="none" cap="none" strike="noStrik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2465900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1st quarter</a:t>
            </a:r>
            <a:endParaRPr b="0" i="0" sz="15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pic>
        <p:nvPicPr>
          <p:cNvPr id="168" name="Google Shape;168;p29" title="Untitled-3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5506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4673669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0%</a:t>
            </a:r>
            <a:endParaRPr b="0" i="0" sz="2200" u="none" cap="none" strike="noStrik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673669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2st quarter</a:t>
            </a:r>
            <a:endParaRPr b="0" i="0" sz="15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pic>
        <p:nvPicPr>
          <p:cNvPr id="171" name="Google Shape;171;p29" title="Untitled-3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3275" y="3219675"/>
            <a:ext cx="1934325" cy="580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6881438" y="2987825"/>
            <a:ext cx="12180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D30D3A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0%</a:t>
            </a:r>
            <a:endParaRPr b="0" i="0" sz="2200" u="none" cap="none" strike="noStrik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6881438" y="3377575"/>
            <a:ext cx="121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3st quarter</a:t>
            </a:r>
            <a:endParaRPr b="0" i="0" sz="15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D30D3A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/>
        </p:nvSpPr>
        <p:spPr>
          <a:xfrm>
            <a:off x="5006100" y="833150"/>
            <a:ext cx="345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b="0" i="0" sz="25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4581425" y="1678103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b="0" i="0" sz="11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0" name="Google Shape;180;p30"/>
          <p:cNvGrpSpPr/>
          <p:nvPr/>
        </p:nvGrpSpPr>
        <p:grpSpPr>
          <a:xfrm>
            <a:off x="7840450" y="1668450"/>
            <a:ext cx="485125" cy="639432"/>
            <a:chOff x="7753313" y="2059231"/>
            <a:chExt cx="485125" cy="639432"/>
          </a:xfrm>
        </p:grpSpPr>
        <p:pic>
          <p:nvPicPr>
            <p:cNvPr id="181" name="Google Shape;181;p30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30" title="idea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30"/>
          <p:cNvSpPr txBox="1"/>
          <p:nvPr/>
        </p:nvSpPr>
        <p:spPr>
          <a:xfrm>
            <a:off x="577925" y="1678103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b="0" i="0" sz="11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4" name="Google Shape;184;p30"/>
          <p:cNvGrpSpPr/>
          <p:nvPr/>
        </p:nvGrpSpPr>
        <p:grpSpPr>
          <a:xfrm>
            <a:off x="3836950" y="1668450"/>
            <a:ext cx="485125" cy="639432"/>
            <a:chOff x="7753313" y="2059231"/>
            <a:chExt cx="485125" cy="639432"/>
          </a:xfrm>
        </p:grpSpPr>
        <p:pic>
          <p:nvPicPr>
            <p:cNvPr id="185" name="Google Shape;185;p30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30" title="idea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30"/>
          <p:cNvSpPr txBox="1"/>
          <p:nvPr/>
        </p:nvSpPr>
        <p:spPr>
          <a:xfrm>
            <a:off x="4581425" y="2764090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b="0" i="0" sz="11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88" name="Google Shape;188;p30"/>
          <p:cNvGrpSpPr/>
          <p:nvPr/>
        </p:nvGrpSpPr>
        <p:grpSpPr>
          <a:xfrm>
            <a:off x="7840450" y="2754437"/>
            <a:ext cx="485125" cy="639432"/>
            <a:chOff x="7753313" y="2059231"/>
            <a:chExt cx="485125" cy="639432"/>
          </a:xfrm>
        </p:grpSpPr>
        <p:pic>
          <p:nvPicPr>
            <p:cNvPr id="189" name="Google Shape;189;p30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30" title="idea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30"/>
          <p:cNvSpPr txBox="1"/>
          <p:nvPr/>
        </p:nvSpPr>
        <p:spPr>
          <a:xfrm>
            <a:off x="577925" y="2764090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b="0" i="0" sz="11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92" name="Google Shape;192;p30"/>
          <p:cNvGrpSpPr/>
          <p:nvPr/>
        </p:nvGrpSpPr>
        <p:grpSpPr>
          <a:xfrm>
            <a:off x="3836950" y="2754437"/>
            <a:ext cx="485125" cy="639432"/>
            <a:chOff x="7753313" y="2059231"/>
            <a:chExt cx="485125" cy="639432"/>
          </a:xfrm>
        </p:grpSpPr>
        <p:pic>
          <p:nvPicPr>
            <p:cNvPr id="193" name="Google Shape;193;p30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30" title="idea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30"/>
          <p:cNvSpPr txBox="1"/>
          <p:nvPr/>
        </p:nvSpPr>
        <p:spPr>
          <a:xfrm>
            <a:off x="4581425" y="3850078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b="0" i="0" sz="11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96" name="Google Shape;196;p30"/>
          <p:cNvGrpSpPr/>
          <p:nvPr/>
        </p:nvGrpSpPr>
        <p:grpSpPr>
          <a:xfrm>
            <a:off x="7840450" y="3840425"/>
            <a:ext cx="485125" cy="639432"/>
            <a:chOff x="7753313" y="2059231"/>
            <a:chExt cx="485125" cy="639432"/>
          </a:xfrm>
        </p:grpSpPr>
        <p:pic>
          <p:nvPicPr>
            <p:cNvPr id="197" name="Google Shape;197;p30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0" title="idea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30"/>
          <p:cNvSpPr txBox="1"/>
          <p:nvPr/>
        </p:nvSpPr>
        <p:spPr>
          <a:xfrm>
            <a:off x="577925" y="3850078"/>
            <a:ext cx="31665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يعرض هذا القسم التقنيات المختلفة التي تم استخدامها في المشروع، مثل الأدوات البرمجية، الأطر التقنية، أو اللغات البرمجية.</a:t>
            </a:r>
            <a:endParaRPr b="0" i="0" sz="11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200" name="Google Shape;200;p30"/>
          <p:cNvGrpSpPr/>
          <p:nvPr/>
        </p:nvGrpSpPr>
        <p:grpSpPr>
          <a:xfrm>
            <a:off x="3836950" y="3840425"/>
            <a:ext cx="485125" cy="639432"/>
            <a:chOff x="7753313" y="2059231"/>
            <a:chExt cx="485125" cy="639432"/>
          </a:xfrm>
        </p:grpSpPr>
        <p:pic>
          <p:nvPicPr>
            <p:cNvPr id="201" name="Google Shape;201;p30" title="Untitled-54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01650" y="2310188"/>
              <a:ext cx="388475" cy="38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30" title="idea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53313" y="2059231"/>
              <a:ext cx="485125" cy="485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1" title="shutterstock_452767891.jpg"/>
          <p:cNvPicPr preferRelativeResize="0"/>
          <p:nvPr/>
        </p:nvPicPr>
        <p:blipFill rotWithShape="1">
          <a:blip r:embed="rId4">
            <a:alphaModFix/>
          </a:blip>
          <a:srcRect b="2220" l="10670" r="56019" t="0"/>
          <a:stretch/>
        </p:blipFill>
        <p:spPr>
          <a:xfrm>
            <a:off x="6449217" y="0"/>
            <a:ext cx="2694784" cy="5143501"/>
          </a:xfrm>
          <a:prstGeom prst="rect">
            <a:avLst/>
          </a:prstGeom>
          <a:solidFill>
            <a:srgbClr val="C36B4E"/>
          </a:solidFill>
          <a:ln>
            <a:noFill/>
          </a:ln>
        </p:spPr>
      </p:pic>
      <p:pic>
        <p:nvPicPr>
          <p:cNvPr id="208" name="Google Shape;208;p31" title="shutterstock_2308548581.png"/>
          <p:cNvPicPr preferRelativeResize="0"/>
          <p:nvPr/>
        </p:nvPicPr>
        <p:blipFill rotWithShape="1">
          <a:blip r:embed="rId5">
            <a:alphaModFix/>
          </a:blip>
          <a:srcRect b="7570" l="0" r="0" t="0"/>
          <a:stretch/>
        </p:blipFill>
        <p:spPr>
          <a:xfrm>
            <a:off x="6935125" y="671075"/>
            <a:ext cx="1901925" cy="447242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2387786" y="2557563"/>
            <a:ext cx="30984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يحتوي على شرح مفصل للفكرة التي تم تطويرها لمعالجة المشكلة، مع التركيز على الفوائد والابتكارات التي تقدمها.</a:t>
            </a:r>
            <a:endParaRPr b="0" i="0" sz="1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2387786" y="2151363"/>
            <a:ext cx="3098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عنوان</a:t>
            </a:r>
            <a:endParaRPr b="0" i="0" sz="2500" u="none" cap="none" strike="noStrike">
              <a:solidFill>
                <a:srgbClr val="8980B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3086486" y="1273438"/>
            <a:ext cx="239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الفكرة</a:t>
            </a:r>
            <a:endParaRPr b="0" i="0" sz="25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/>
        </p:nvSpPr>
        <p:spPr>
          <a:xfrm>
            <a:off x="2355199" y="2539138"/>
            <a:ext cx="35175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يوضح الطرق التي تم من خلالها الحصول على البيانات المستخدمة في المشروع، وكيف تم استخدامها لتحقيق أهداف المشروع وتحليل النتائج.</a:t>
            </a:r>
            <a:endParaRPr b="0" i="0" sz="1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2083050" y="1291863"/>
            <a:ext cx="37899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كيفية توفير هذه البيانات وكيفية استخدامها</a:t>
            </a:r>
            <a:endParaRPr b="1" i="0" sz="28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218" name="Google Shape;218;p32" title="shutterstock_2303267969.jpg"/>
          <p:cNvPicPr preferRelativeResize="0"/>
          <p:nvPr/>
        </p:nvPicPr>
        <p:blipFill rotWithShape="1">
          <a:blip r:embed="rId4">
            <a:alphaModFix/>
          </a:blip>
          <a:srcRect b="0" l="66924" r="0" t="12907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 title="shutterstock_2627921973.png"/>
          <p:cNvPicPr preferRelativeResize="0"/>
          <p:nvPr/>
        </p:nvPicPr>
        <p:blipFill rotWithShape="1">
          <a:blip r:embed="rId5">
            <a:alphaModFix/>
          </a:blip>
          <a:srcRect b="-834" l="6001" r="46818" t="-834"/>
          <a:stretch/>
        </p:blipFill>
        <p:spPr>
          <a:xfrm>
            <a:off x="6213200" y="934350"/>
            <a:ext cx="2930801" cy="420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2249427" y="1442625"/>
            <a:ext cx="35151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مواءمة الفكرة :</a:t>
            </a:r>
            <a:endParaRPr b="1" i="0" sz="28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2045327" y="2106600"/>
            <a:ext cx="3719100" cy="2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حدّد في هذه الصفحة:</a:t>
            </a:r>
            <a:endParaRPr/>
          </a:p>
          <a:p>
            <a:pPr indent="0" lvl="0" marL="0" marR="0" rtl="1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المسار الذي اخترته</a:t>
            </a:r>
            <a:endParaRPr/>
          </a:p>
          <a:p>
            <a:pPr indent="0" lvl="0" marL="0" marR="0" rtl="1" algn="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 الذي تعمل عليه ضمن المسار</a:t>
            </a:r>
            <a:endParaRPr/>
          </a:p>
          <a:p>
            <a:pPr indent="0" lvl="0" marL="0" marR="0" rtl="1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ثم صف كيف تعالج فكرتك هذا التحدي تحديدًا، وما القيمة التي تضيفها.</a:t>
            </a:r>
            <a:endParaRPr/>
          </a:p>
        </p:txBody>
      </p:sp>
      <p:pic>
        <p:nvPicPr>
          <p:cNvPr id="226" name="Google Shape;226;p33" title="shutterstock_385335934.jpg"/>
          <p:cNvPicPr preferRelativeResize="0"/>
          <p:nvPr/>
        </p:nvPicPr>
        <p:blipFill rotWithShape="1">
          <a:blip r:embed="rId4">
            <a:alphaModFix/>
          </a:blip>
          <a:srcRect b="0" l="24017" r="38005" t="0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 title="shutterstock_385335934.jpg"/>
          <p:cNvPicPr preferRelativeResize="0"/>
          <p:nvPr/>
        </p:nvPicPr>
        <p:blipFill rotWithShape="1">
          <a:blip r:embed="rId4">
            <a:alphaModFix/>
          </a:blip>
          <a:srcRect b="0" l="24017" r="38005" t="0"/>
          <a:stretch/>
        </p:blipFill>
        <p:spPr>
          <a:xfrm>
            <a:off x="6213200" y="0"/>
            <a:ext cx="29308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/>
        </p:nvSpPr>
        <p:spPr>
          <a:xfrm>
            <a:off x="2150625" y="1551263"/>
            <a:ext cx="35151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ملخص</a:t>
            </a:r>
            <a:endParaRPr b="1" i="0" sz="28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1946525" y="2215238"/>
            <a:ext cx="371910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يقدم هذا القسم لمحة عامة عن المشروع بشكل شامل، بما في ذلك أهدافه، مخرجاته، وأهم النتائج التي تم الوصول إليها.</a:t>
            </a:r>
            <a:endParaRPr b="0" i="0" sz="14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4916400" y="989225"/>
            <a:ext cx="35412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الاختبار/التحقق:</a:t>
            </a:r>
            <a:endParaRPr b="1" i="0" sz="28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1713225" y="1898050"/>
            <a:ext cx="70992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1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ما هي النتائج الأولية أو النماذج الأولية التي قمت بتطويرها؟</a:t>
            </a:r>
            <a:r>
              <a:rPr b="0" i="0" lang="en" sz="1600" u="none" cap="none" strike="noStrike">
                <a:solidFill>
                  <a:srgbClr val="C36B4E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</a:t>
            </a:r>
            <a:r>
              <a:rPr b="0" i="0" lang="en" sz="1600" u="none" cap="none" strike="noStrike">
                <a:solidFill>
                  <a:srgbClr val="8980B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(على سبيل المثال، "قمنا باختبار نموذج تحليل الوضعيات على 50 مقطع فيديو تجريبي")</a:t>
            </a:r>
            <a:endParaRPr b="0" i="0" sz="1600" u="none" cap="none" strike="noStrike">
              <a:solidFill>
                <a:srgbClr val="C36B4E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  <a:p>
            <a:pPr indent="0" lvl="0" marL="0" marR="0" rtl="1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C36B4E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2094225" y="989225"/>
            <a:ext cx="6363300" cy="11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العرض التوضيحي/اللقطات/الفيديوهات/المحاكاة:</a:t>
            </a:r>
            <a:endParaRPr b="1" i="0" sz="28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1826050" y="3636376"/>
            <a:ext cx="66315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تذكر: الهدف من ذلك هو إظهار ما إذا كان قد تم إنجاز 30% من المشروع.</a:t>
            </a:r>
            <a:endParaRPr b="0" i="0" sz="16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/>
        </p:nvSpPr>
        <p:spPr>
          <a:xfrm>
            <a:off x="3619750" y="989225"/>
            <a:ext cx="48378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التحديات والخطط المستقبلية</a:t>
            </a:r>
            <a:endParaRPr b="1" i="0" sz="2800" u="none" cap="none" strike="noStrik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251" name="Google Shape;251;p37"/>
          <p:cNvGrpSpPr/>
          <p:nvPr/>
        </p:nvGrpSpPr>
        <p:grpSpPr>
          <a:xfrm>
            <a:off x="1984475" y="1792252"/>
            <a:ext cx="3071501" cy="1242306"/>
            <a:chOff x="2329925" y="1939327"/>
            <a:chExt cx="3071501" cy="1242306"/>
          </a:xfrm>
        </p:grpSpPr>
        <p:sp>
          <p:nvSpPr>
            <p:cNvPr id="252" name="Google Shape;252;p37"/>
            <p:cNvSpPr txBox="1"/>
            <p:nvPr/>
          </p:nvSpPr>
          <p:spPr>
            <a:xfrm>
              <a:off x="2329925" y="2013900"/>
              <a:ext cx="2772600" cy="10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ما تحتاج إلى مساعدة فيه:</a:t>
              </a:r>
              <a:endParaRPr b="0" i="0" sz="1600" u="none" cap="none" strike="noStrike">
                <a:solidFill>
                  <a:srgbClr val="8980B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endParaRPr>
            </a:p>
            <a:p>
              <a:pPr indent="0" lvl="0" marL="0" marR="0" rtl="1" algn="just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C36B4E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</a:t>
              </a:r>
              <a:r>
                <a:rPr b="0" i="0" lang="en" sz="1100" u="none" cap="none" strike="noStrik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كيف يمكن للمنظمين أو المرشدين مساعدتك؟ (مثل توفير الوصول إلى واجهات برمجية API أو الأجهزة المطلوبة).</a:t>
              </a:r>
              <a:endParaRPr b="0" i="0" sz="13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3" name="Google Shape;253;p37" title="books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59120" y="193932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" name="Google Shape;254;p37"/>
          <p:cNvGrpSpPr/>
          <p:nvPr/>
        </p:nvGrpSpPr>
        <p:grpSpPr>
          <a:xfrm>
            <a:off x="5845425" y="1792252"/>
            <a:ext cx="2473126" cy="1242306"/>
            <a:chOff x="5786925" y="1831477"/>
            <a:chExt cx="2473126" cy="1242306"/>
          </a:xfrm>
        </p:grpSpPr>
        <p:sp>
          <p:nvSpPr>
            <p:cNvPr id="255" name="Google Shape;255;p37"/>
            <p:cNvSpPr txBox="1"/>
            <p:nvPr/>
          </p:nvSpPr>
          <p:spPr>
            <a:xfrm>
              <a:off x="5786925" y="1939325"/>
              <a:ext cx="2244600" cy="102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1" algn="just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التحديات:</a:t>
              </a:r>
              <a:br>
                <a:rPr b="0" i="0" lang="en" sz="1400" u="none" cap="none" strike="noStrik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</a:br>
              <a:r>
                <a:rPr b="0" i="0" lang="en" sz="1100" u="none" cap="none" strike="noStrik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ما هي العوائق التي تواجهك؟ (مثل غياب الأدلة التجريبية أو القيود الحسابية).</a:t>
              </a:r>
              <a:endParaRPr b="0" i="0" sz="11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6" name="Google Shape;256;p37" title="books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17745" y="183147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Google Shape;257;p37"/>
          <p:cNvGrpSpPr/>
          <p:nvPr/>
        </p:nvGrpSpPr>
        <p:grpSpPr>
          <a:xfrm>
            <a:off x="5149675" y="3461552"/>
            <a:ext cx="3168876" cy="1242306"/>
            <a:chOff x="3215175" y="3491077"/>
            <a:chExt cx="3168876" cy="1242306"/>
          </a:xfrm>
        </p:grpSpPr>
        <p:sp>
          <p:nvSpPr>
            <p:cNvPr id="258" name="Google Shape;258;p37"/>
            <p:cNvSpPr txBox="1"/>
            <p:nvPr/>
          </p:nvSpPr>
          <p:spPr>
            <a:xfrm>
              <a:off x="3215175" y="3598925"/>
              <a:ext cx="2968500" cy="102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1" algn="just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8980BC"/>
                  </a:solidFill>
                  <a:latin typeface="IBM Plex Sans Arabic Medium"/>
                  <a:ea typeface="IBM Plex Sans Arabic Medium"/>
                  <a:cs typeface="IBM Plex Sans Arabic Medium"/>
                  <a:sym typeface="IBM Plex Sans Arabic Medium"/>
                </a:rPr>
                <a:t>العرض المستقبلي:</a:t>
              </a:r>
              <a:br>
                <a:rPr b="1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100" u="none" cap="none" strike="noStrike">
                  <a:solidFill>
                    <a:srgbClr val="C36B4E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 </a:t>
              </a:r>
              <a:r>
                <a:rPr b="0" i="0" lang="en" sz="1100" u="none" cap="none" strike="noStrike">
                  <a:solidFill>
                    <a:schemeClr val="lt1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تأكد من عرض خارطة الطريق التي تغطي 70% من التقدم، حيث تصف خطة الأسبوعين المقبلين والأهداف المرجو تحقيقها.</a:t>
              </a:r>
              <a:endParaRPr b="0" i="0" sz="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59" name="Google Shape;259;p37" title="books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41745" y="3491077"/>
              <a:ext cx="1242306" cy="12423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/>
        </p:nvSpPr>
        <p:spPr>
          <a:xfrm>
            <a:off x="2349750" y="2383675"/>
            <a:ext cx="4837800" cy="17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52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شكراً</a:t>
            </a:r>
            <a:endParaRPr b="1" i="0" sz="52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265" name="Google Shape;2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5886" y="985996"/>
            <a:ext cx="977418" cy="64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8" title="logo mis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8834" y="792925"/>
            <a:ext cx="1944378" cy="107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8" title="Riyadh Expo 2030(1).png"/>
          <p:cNvPicPr preferRelativeResize="0"/>
          <p:nvPr/>
        </p:nvPicPr>
        <p:blipFill rotWithShape="1">
          <a:blip r:embed="rId6">
            <a:alphaModFix/>
          </a:blip>
          <a:srcRect b="33690" l="14448" r="14448" t="33687"/>
          <a:stretch/>
        </p:blipFill>
        <p:spPr>
          <a:xfrm>
            <a:off x="2137332" y="1061327"/>
            <a:ext cx="1628005" cy="74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